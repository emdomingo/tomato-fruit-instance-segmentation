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3" r:id="rId4"/>
    <p:sldId id="274" r:id="rId5"/>
    <p:sldId id="278" r:id="rId6"/>
    <p:sldId id="279" r:id="rId7"/>
    <p:sldId id="280" r:id="rId8"/>
    <p:sldId id="282" r:id="rId9"/>
    <p:sldId id="291" r:id="rId10"/>
    <p:sldId id="284" r:id="rId11"/>
    <p:sldId id="283" r:id="rId12"/>
    <p:sldId id="286" r:id="rId13"/>
    <p:sldId id="294" r:id="rId14"/>
    <p:sldId id="295" r:id="rId15"/>
    <p:sldId id="296" r:id="rId16"/>
    <p:sldId id="288" r:id="rId17"/>
    <p:sldId id="292" r:id="rId18"/>
    <p:sldId id="287" r:id="rId19"/>
    <p:sldId id="293" r:id="rId20"/>
    <p:sldId id="297" r:id="rId21"/>
    <p:sldId id="298" r:id="rId22"/>
    <p:sldId id="262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8492E"/>
    <a:srgbClr val="2E3A2B"/>
    <a:srgbClr val="7A7666"/>
    <a:srgbClr val="EDE6D6"/>
    <a:srgbClr val="5A7184"/>
    <a:srgbClr val="6B8E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46" autoAdjust="0"/>
    <p:restoredTop sz="81546"/>
  </p:normalViewPr>
  <p:slideViewPr>
    <p:cSldViewPr snapToGrid="0" snapToObjects="1">
      <p:cViewPr varScale="1">
        <p:scale>
          <a:sx n="142" d="100"/>
          <a:sy n="142" d="100"/>
        </p:scale>
        <p:origin x="17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909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09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3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7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71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Work on fruit harvesting robots have been done over the past decade</a:t>
            </a:r>
          </a:p>
          <a:p>
            <a:pPr marL="171450" indent="-171450">
              <a:buFontTx/>
              <a:buChar char="-"/>
            </a:pPr>
            <a:r>
              <a:rPr lang="en-US" dirty="0"/>
              <a:t>It’s composed of different submodules.</a:t>
            </a:r>
          </a:p>
          <a:p>
            <a:pPr marL="171450" indent="-171450">
              <a:buFontTx/>
              <a:buChar char="-"/>
            </a:pPr>
            <a:r>
              <a:rPr lang="en-US" dirty="0"/>
              <a:t>Vision is a key one, downstream dependency.</a:t>
            </a:r>
          </a:p>
          <a:p>
            <a:pPr marL="171450" indent="-171450">
              <a:buFontTx/>
              <a:buChar char="-"/>
            </a:pPr>
            <a:r>
              <a:rPr lang="en-US" dirty="0"/>
              <a:t>Before a robot can go and harvest fruit, it must first learn what and where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C41CE-5746-09DF-2F9D-43A514CF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F1C8B-41D0-88B7-D199-E8EBDD35E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11ECA-B226-7762-5186-C5B3BC2C8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Instance segmentation is the computer vision task used</a:t>
            </a:r>
          </a:p>
          <a:p>
            <a:pPr marL="628604" lvl="1" indent="-171450">
              <a:buFontTx/>
              <a:buChar char="-"/>
            </a:pPr>
            <a:r>
              <a:rPr lang="en-US" dirty="0"/>
              <a:t>It goes beyond just detecting that fruit exists</a:t>
            </a:r>
          </a:p>
          <a:p>
            <a:pPr marL="628604" lvl="1" indent="-171450">
              <a:buFontTx/>
              <a:buChar char="-"/>
            </a:pPr>
            <a:r>
              <a:rPr lang="en-US" dirty="0"/>
              <a:t>For every individual object instance:</a:t>
            </a:r>
          </a:p>
          <a:p>
            <a:pPr marL="1085759" lvl="2" indent="-171450">
              <a:buFontTx/>
              <a:buChar char="-"/>
            </a:pPr>
            <a:r>
              <a:rPr lang="en-US" dirty="0"/>
              <a:t>It detects it, assigns a class and produces a pixel level mask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59681-D362-17EA-BD1A-3957014FD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0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16B6C-7543-9648-78E3-6FB6F049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DEBCA-FCE4-9054-1DF3-C0018DC9B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47B5D-7DC8-D751-B689-8A0A0D9A2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Across the literature, RGB-only segmentation has two failure modes:</a:t>
            </a:r>
          </a:p>
          <a:p>
            <a:pPr marL="628604" lvl="1" indent="-171450">
              <a:buFontTx/>
              <a:buChar char="-"/>
            </a:pPr>
            <a:r>
              <a:rPr lang="en-US" dirty="0"/>
              <a:t>Occlusion:</a:t>
            </a:r>
          </a:p>
          <a:p>
            <a:pPr marL="628604" lvl="1" indent="-171450">
              <a:buFontTx/>
              <a:buChar char="-"/>
            </a:pPr>
            <a:r>
              <a:rPr lang="en-US" dirty="0" err="1"/>
              <a:t>Colour</a:t>
            </a:r>
            <a:r>
              <a:rPr lang="en-US" dirty="0"/>
              <a:t> blending: ambiguousness in</a:t>
            </a:r>
          </a:p>
          <a:p>
            <a:pPr marL="628604" lvl="1" indent="-171450">
              <a:buFontTx/>
              <a:buChar char="-"/>
            </a:pPr>
            <a:r>
              <a:rPr lang="en-US" dirty="0"/>
              <a:t>Both are limitations of </a:t>
            </a:r>
            <a:r>
              <a:rPr lang="en-US" dirty="0" err="1"/>
              <a:t>colour</a:t>
            </a:r>
            <a:r>
              <a:rPr lang="en-US" dirty="0"/>
              <a:t> input</a:t>
            </a:r>
          </a:p>
          <a:p>
            <a:pPr marL="628604" lvl="1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Harvesting robots carry depth sensors anyways for 3D </a:t>
            </a:r>
            <a:r>
              <a:rPr lang="en-US" dirty="0" err="1"/>
              <a:t>localisation</a:t>
            </a:r>
            <a:endParaRPr lang="en-US" dirty="0"/>
          </a:p>
          <a:p>
            <a:pPr marL="628604" lvl="1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55A1A-599D-100D-18F4-5B0CCE661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29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DE20E-EEA4-217F-7AC0-BB2DD3A5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ED106-10F4-A7C8-C3BD-6FA25A0B6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DABE1-9231-8EFD-515B-3BBC018CD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setup is a controlled comparison (one base model)</a:t>
            </a:r>
          </a:p>
          <a:p>
            <a:pPr marL="171450" indent="-171450">
              <a:buFontTx/>
              <a:buChar char="-"/>
            </a:pPr>
            <a:r>
              <a:rPr lang="en-AU" dirty="0"/>
              <a:t>"One model, one training recipe — the only variable is how depth enters at the input. That's the whole experiment.”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Three variants that branch from the same </a:t>
            </a:r>
            <a:r>
              <a:rPr lang="en-US" dirty="0" err="1"/>
              <a:t>RGB+depth</a:t>
            </a:r>
            <a:r>
              <a:rPr lang="en-US" dirty="0"/>
              <a:t> input</a:t>
            </a:r>
          </a:p>
          <a:p>
            <a:pPr marL="171450" indent="-171450">
              <a:buFontTx/>
              <a:buChar char="-"/>
            </a:pPr>
            <a:r>
              <a:rPr lang="en-US" dirty="0"/>
              <a:t>Everything downstream is shared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That isolates the effect of depth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4569A-D5C1-C021-444B-09E377EF6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97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141E-004E-9296-E9AF-F20E716CE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962AD-FD35-85D4-1A91-400E10A9C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07EBE-F439-5AF0-D618-5B8C58AE0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 is a key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CF1BC-69E0-54F2-161E-647C4BDC3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39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78C76-0B9D-C596-4925-E962CC643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6D275-E2C9-BD8C-312B-D021D6BC4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BD46A-3D62-A14E-A0BD-ED235219D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 is a key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ED017-EEE1-F0B4-5F5F-83CC43852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51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CBB7D-8A33-7C8A-07C5-CDFE77281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EA58D-E607-C723-ABD6-DCF9AA243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2EB2F-203E-2980-5873-AF1A6C8F2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0" dirty="0"/>
              <a:t>- Unlike early fusion, depth gets its own processing path </a:t>
            </a:r>
          </a:p>
          <a:p>
            <a:r>
              <a:rPr lang="en-AU" b="0" dirty="0"/>
              <a:t>- The two streams are combined by learned attention, not concatenation</a:t>
            </a:r>
          </a:p>
          <a:p>
            <a:r>
              <a:rPr lang="en-AU" b="0" dirty="0"/>
              <a:t>- It works in two stages </a:t>
            </a:r>
          </a:p>
          <a:p>
            <a:r>
              <a:rPr lang="en-AU" b="0" dirty="0"/>
              <a:t>K is the knob I sweep </a:t>
            </a:r>
          </a:p>
          <a:p>
            <a:r>
              <a:rPr lang="en-AU" b="0" dirty="0"/>
              <a:t>Only the refined RGB stream continues into the backbone </a:t>
            </a:r>
          </a:p>
          <a:p>
            <a:r>
              <a:rPr lang="en-AU" b="0" dirty="0"/>
              <a:t>Designed to start identical to RGB</a:t>
            </a:r>
          </a:p>
          <a:p>
            <a:endParaRPr lang="en-AU" b="0" dirty="0"/>
          </a:p>
          <a:p>
            <a:r>
              <a:rPr lang="en-AU" dirty="0"/>
              <a:t>Each line is an attention block — a similarity matrix between two streams that decides which patches inform which. The initial step lets depth reorganise RGB; the K cycles are the two modalities taking turns refining each other. And because every update is a zero-initialised residual, the block starts as the identity and equals plain RGB until it learns otherwise.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23763-D65A-DBD8-9521-7DF5C995ED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24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516F6-C709-B2E7-53F2-4DEEF4855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937374-5D96-2669-C000-D2F4A51EB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37C50-B37A-4DB0-C322-A30388832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Two building blocks: </a:t>
            </a:r>
            <a:r>
              <a:rPr lang="en-AU" b="1" dirty="0" err="1"/>
              <a:t>IoU</a:t>
            </a:r>
            <a:r>
              <a:rPr lang="en-AU" b="1" dirty="0"/>
              <a:t> and AP</a:t>
            </a:r>
            <a:r>
              <a:rPr lang="en-AU" dirty="0"/>
              <a:t> — </a:t>
            </a:r>
            <a:r>
              <a:rPr lang="en-AU" dirty="0" err="1"/>
              <a:t>IoU</a:t>
            </a:r>
            <a:r>
              <a:rPr lang="en-AU" dirty="0"/>
              <a:t> measures </a:t>
            </a:r>
            <a:r>
              <a:rPr lang="en-AU" i="1" dirty="0"/>
              <a:t>quality</a:t>
            </a:r>
            <a:r>
              <a:rPr lang="en-AU" dirty="0"/>
              <a:t> of a single mask, AP summarises </a:t>
            </a:r>
            <a:r>
              <a:rPr lang="en-AU" i="1" dirty="0"/>
              <a:t>overall</a:t>
            </a:r>
            <a:r>
              <a:rPr lang="en-AU" dirty="0"/>
              <a:t> detection performance </a:t>
            </a:r>
            <a:r>
              <a:rPr lang="en-AU" b="1" dirty="0" err="1"/>
              <a:t>IoU</a:t>
            </a:r>
            <a:r>
              <a:rPr lang="en-AU" b="1" dirty="0"/>
              <a:t> = intersection over union</a:t>
            </a:r>
            <a:r>
              <a:rPr lang="en-AU" dirty="0"/>
              <a:t> — overlap between the predicted mask and the ground truth, divided by their combined area; 0 means no overlap, 1 means perfect match </a:t>
            </a:r>
            <a:r>
              <a:rPr lang="en-AU" b="1" dirty="0"/>
              <a:t>A prediction counts as correct if its </a:t>
            </a:r>
            <a:r>
              <a:rPr lang="en-AU" b="1" dirty="0" err="1"/>
              <a:t>IoU</a:t>
            </a:r>
            <a:r>
              <a:rPr lang="en-AU" b="1" dirty="0"/>
              <a:t> clears a threshold</a:t>
            </a:r>
            <a:r>
              <a:rPr lang="en-AU" dirty="0"/>
              <a:t> — and that threshold is the dial that sets how strict the metric is </a:t>
            </a:r>
            <a:r>
              <a:rPr lang="en-AU" b="1" dirty="0"/>
              <a:t>AP is the area under the precision-recall curve</a:t>
            </a:r>
            <a:r>
              <a:rPr lang="en-AU" dirty="0"/>
              <a:t> — at a given </a:t>
            </a:r>
            <a:r>
              <a:rPr lang="en-AU" dirty="0" err="1"/>
              <a:t>IoU</a:t>
            </a:r>
            <a:r>
              <a:rPr lang="en-AU" dirty="0"/>
              <a:t> threshold, sweeping the confidence cutoff traces precision against recall, and AP is the area underneath </a:t>
            </a:r>
            <a:r>
              <a:rPr lang="en-AU" b="1" dirty="0"/>
              <a:t>Three AP variants, increasing strictness</a:t>
            </a:r>
            <a:r>
              <a:rPr lang="en-AU" dirty="0"/>
              <a:t> — AP50 uses a lenient 0.5 threshold (rough overlap is enough), AP75 uses a strict 0.75 (needs a tight mask), and AP (0.50–0.95) averages across the range </a:t>
            </a:r>
            <a:r>
              <a:rPr lang="en-AU" b="1" dirty="0"/>
              <a:t>Per-class AP</a:t>
            </a:r>
            <a:r>
              <a:rPr lang="en-AU" dirty="0"/>
              <a:t> — computed separately for red and green fruit, since the two classes have different difficulty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97031-DA34-0DF1-952F-CF76DED9D7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95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60500-74D0-E94E-ACD4-6E0A2D6C6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E96137-80E3-E764-4793-76C14B09C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D3BA3-5C33-E45E-5ABE-FDCF21697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 is a key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91D09-E5D7-2AA1-3DCA-8B8495490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29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93D2E-C92E-2040-5721-F7247CFBD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5431B-DBCE-C590-BE6A-D88DD075C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4F0E6-AC75-C3B1-DE10-F6A76C51C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 is a key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5064C-7D36-521D-714F-3E12BBFDDA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1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96653-EC68-A77B-7579-07863030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D9539-74E0-2CD3-5FF8-0B951CB6B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35DBE-31A9-4025-57D6-9A191FF11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 is a key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83862-8BEE-12F7-FE60-0BC38D474D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8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C8F3-4B40-C393-F9C6-3629BE96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06876-8FB2-56EC-C4ED-D54036CF4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764C7-E856-2A85-C435-491C77FBD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 is a key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57BFA-4B42-8118-B3E8-B9D7E9D19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67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185D-91EA-2F1B-EE6B-3FDE2F61E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8A433-724E-5D37-0B9D-E819EDDF1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98BA6-FDF7-1B8D-6941-0A6ACC266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 is a key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083EF-506E-B292-11DA-71269830D2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1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17B1-DC67-44A5-0825-E8C962A2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F1FED-FE1E-1193-7959-45D23A79D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8870B-BFED-5586-5394-1A7C86932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 is a key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72EC3-085B-A1C3-00B8-AD7B7631B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50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3376F-B1D6-0886-340C-91D931024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CB911-2CF7-AEB7-344D-F15794C53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633F2-C234-815E-79AB-2C521D584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RGB (blue) leads from the start and holds it the whole way</a:t>
            </a:r>
            <a:r>
              <a:rPr lang="en-AU" dirty="0"/>
              <a:t> </a:t>
            </a:r>
          </a:p>
          <a:p>
            <a:r>
              <a:rPr lang="en-AU" b="1" dirty="0"/>
              <a:t>AP50 is the exception — everyone collapses into one band</a:t>
            </a:r>
            <a:r>
              <a:rPr lang="en-AU" dirty="0"/>
              <a:t> </a:t>
            </a:r>
          </a:p>
          <a:p>
            <a:r>
              <a:rPr lang="en-AU" b="1" dirty="0"/>
              <a:t>The contrast between AP50 and AP75 is the whole story</a:t>
            </a:r>
            <a:r>
              <a:rPr lang="en-AU" dirty="0"/>
              <a:t> </a:t>
            </a:r>
          </a:p>
          <a:p>
            <a:r>
              <a:rPr lang="en-AU" b="1" dirty="0"/>
              <a:t>No depth variant ever overtakes RGB and stays there</a:t>
            </a:r>
            <a:r>
              <a:rPr lang="en-AU" dirty="0"/>
              <a:t> — if depth were helping even intermittently, you'd expect a crossover somewhere; none happens </a:t>
            </a:r>
            <a:r>
              <a:rPr lang="en-AU" b="1" dirty="0"/>
              <a:t>Be honest about the shaded bands</a:t>
            </a:r>
            <a:r>
              <a:rPr lang="en-AU" dirty="0"/>
              <a:t> — these are ±1 std over folds and they overlap heavily, so the curves alone don't prove significance; that's exactly why the paired test (RGB wins 5/5 folds) is needed to back the trend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33AC6-1DF3-6703-26EC-03B3267ED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51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5C0D6-88D2-C28E-A416-6D6F9AA3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F5055-0C1C-95FA-EEF6-D4C41565F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07BB7-23C5-3A32-FDE2-D2E7886DE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These are predictions on the held-out test set</a:t>
            </a:r>
            <a:r>
              <a:rPr lang="en-AU" dirty="0"/>
              <a:t> — images excluded from every cross-validation fold, using the median-performing fold per variant, so it's a fair qualitative look </a:t>
            </a:r>
            <a:r>
              <a:rPr lang="en-AU" b="1" dirty="0"/>
              <a:t>Two scenes chosen to cover both classes</a:t>
            </a:r>
            <a:r>
              <a:rPr lang="en-AU" dirty="0"/>
              <a:t> — the left panel is red-dominated (ground truth R:18 G:4), the right is green-dominated (R:5 G:24), so you can see each variant on both fruit types </a:t>
            </a:r>
            <a:r>
              <a:rPr lang="en-AU" b="1" dirty="0"/>
              <a:t>The counts let you compare against ground truth directly</a:t>
            </a:r>
            <a:r>
              <a:rPr lang="en-AU" dirty="0"/>
              <a:t> — e.g. left scene ground truth is R:18 G:4, and the variants land close (RGB R:17 G:5, others R:16–18) — all in the right ballpark, none dramatically off </a:t>
            </a:r>
            <a:r>
              <a:rPr lang="en-AU" b="1" dirty="0"/>
              <a:t>The headline: all variants look basically the same</a:t>
            </a:r>
            <a:r>
              <a:rPr lang="en-AU" dirty="0"/>
              <a:t> — this is the qualitative version of the quantitative result; no variant is visibly better or worse, masks are comparable across the board </a:t>
            </a:r>
            <a:r>
              <a:rPr lang="en-AU" b="1" dirty="0"/>
              <a:t>Individual images may slightly favour one variant, but nothing is consistent</a:t>
            </a:r>
            <a:r>
              <a:rPr lang="en-AU" dirty="0"/>
              <a:t> — flip through the full set and no variant pulls ahead reliably, which matches the metrics</a:t>
            </a:r>
          </a:p>
          <a:p>
            <a:endParaRPr lang="en-AU" dirty="0"/>
          </a:p>
          <a:p>
            <a:r>
              <a:rPr lang="en-AU" dirty="0">
                <a:effectLst/>
              </a:rPr>
              <a:t>depth isn't fixing or breaking anything.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43AA3-7A16-C51E-AF5B-867352F5C8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56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FDD5-FCAB-8989-5DE3-0B4F8DFF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8490A-67BF-17C5-6D81-6CD0D135F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6C392-DBCA-DB95-83CF-2F128E174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How depth influenced the learned representations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Early: ratio of the convolutions of depth to the convolutions of </a:t>
            </a:r>
            <a:r>
              <a:rPr lang="en-AU" dirty="0" err="1"/>
              <a:t>rgb</a:t>
            </a:r>
            <a:endParaRPr lang="en-AU" b="0" dirty="0"/>
          </a:p>
          <a:p>
            <a:r>
              <a:rPr lang="en-AU" b="0" dirty="0"/>
              <a:t>DCA: how far the fusion step pushes each RGB token off its pre-fusion</a:t>
            </a:r>
          </a:p>
          <a:p>
            <a:endParaRPr lang="en-AU" b="0" dirty="0"/>
          </a:p>
          <a:p>
            <a:endParaRPr lang="en-AU" b="1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 measure its influence on the learned representations directly </a:t>
            </a:r>
            <a:r>
              <a:rPr lang="en-AU" b="1" dirty="0"/>
              <a:t>Two measurements, one per fusion type</a:t>
            </a:r>
            <a:r>
              <a:rPr lang="en-AU" dirty="0"/>
              <a:t> — for early fusion, the patch-embed conv is linear, so depth's contribution can be isolated </a:t>
            </a:r>
            <a:r>
              <a:rPr lang="en-AU" i="1" dirty="0"/>
              <a:t>exactly</a:t>
            </a:r>
            <a:r>
              <a:rPr lang="en-AU" dirty="0"/>
              <a:t> (the ratio of conv(depth) to conv(RGB)); for cross-attention, we measure how far the fusion step pushes each RGB token off its pre-fusion value </a:t>
            </a:r>
            <a:r>
              <a:rPr lang="en-AU" b="1" dirty="0"/>
              <a:t>Brighter = stronger depth influence</a:t>
            </a:r>
            <a:r>
              <a:rPr lang="en-AU" dirty="0"/>
              <a:t>, and the colour scale is only comparable </a:t>
            </a:r>
            <a:r>
              <a:rPr lang="en-AU" i="1" dirty="0"/>
              <a:t>within</a:t>
            </a:r>
            <a:r>
              <a:rPr lang="en-AU" dirty="0"/>
              <a:t> a variant, not across columns </a:t>
            </a:r>
            <a:r>
              <a:rPr lang="en-AU" b="1" dirty="0"/>
              <a:t>Early fusion (second column) is almost entirely dark</a:t>
            </a:r>
            <a:r>
              <a:rPr lang="en-AU" dirty="0"/>
              <a:t> — depth contributes close to nothing; the model converged to essentially the RGB solution and ignores the extra channel </a:t>
            </a:r>
            <a:r>
              <a:rPr lang="en-AU" b="1" dirty="0"/>
              <a:t>Cross-attention is the more interesting failure</a:t>
            </a:r>
            <a:r>
              <a:rPr lang="en-AU" dirty="0"/>
              <a:t> — there's plenty of brightness, so depth </a:t>
            </a:r>
            <a:r>
              <a:rPr lang="en-AU" i="1" dirty="0"/>
              <a:t>is</a:t>
            </a:r>
            <a:r>
              <a:rPr lang="en-AU" dirty="0"/>
              <a:t> being used, but look at </a:t>
            </a:r>
            <a:r>
              <a:rPr lang="en-AU" i="1" dirty="0"/>
              <a:t>where</a:t>
            </a:r>
            <a:r>
              <a:rPr lang="en-AU" dirty="0"/>
              <a:t>: the bright regions sit on the background — bars, gaps, structure — while the fruit clusters stay comparatively dark </a:t>
            </a:r>
            <a:r>
              <a:rPr lang="en-AU" b="1" dirty="0"/>
              <a:t>That's exactly backwards</a:t>
            </a:r>
            <a:r>
              <a:rPr lang="en-AU" dirty="0"/>
              <a:t> — depth should help most where fruits overlap, to separate them; instead the model applies it where it matters least </a:t>
            </a:r>
            <a:r>
              <a:rPr lang="en-AU" b="1" dirty="0"/>
              <a:t>The unifying takeaway: early fusion ignores depth, cross-attention misplaces it</a:t>
            </a:r>
            <a:r>
              <a:rPr lang="en-AU" dirty="0"/>
              <a:t> — either way depth never reaches the problem it was meant to solve, which is why no variant beat RGB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0F550-7921-D795-D6D6-E06F7B70B3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027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F82B8-646C-2392-4881-A4166BCB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ED36D-A36E-CC6C-640E-05EEF0191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9E6B8-06DC-1882-82DC-6ACD75CEB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 is a key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D26D1-F156-31D2-AA47-AA95995F63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899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80DFF-3B86-0BAD-2D9B-CA3B08BEF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0D6A2-826D-4064-54D3-852E04AE8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DA339-04A3-079B-7A03-823D8C93E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 is a key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888A4-86B3-84D5-29BE-2533838C0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26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A466-51AD-0723-9EEF-5079904E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BCFD7-C3B4-E713-9A54-D979BB79C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DCA2E-C543-FE5B-5328-409854128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Perception is a key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22CFB-1DE5-854C-2D52-C0D67EBCD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925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4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17" indent="-342917" algn="l" defTabSz="91444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87" indent="-285764" algn="l" defTabSz="914446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463040"/>
            <a:ext cx="4754880" cy="4754880"/>
          </a:xfrm>
          <a:prstGeom prst="ellipse">
            <a:avLst/>
          </a:prstGeom>
          <a:solidFill>
            <a:srgbClr val="6B8E4E">
              <a:alpha val="1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9326880" y="2011680"/>
            <a:ext cx="3108960" cy="3108960"/>
          </a:xfrm>
          <a:prstGeom prst="ellipse">
            <a:avLst/>
          </a:prstGeom>
          <a:solidFill>
            <a:srgbClr val="C8492E">
              <a:alpha val="12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822960" y="3568904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Evaluating Depth Fusion</a:t>
            </a:r>
          </a:p>
          <a:p>
            <a:r>
              <a:rPr lang="en-US" sz="480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</a:rPr>
              <a:t>for Instance Segmentation</a:t>
            </a:r>
          </a:p>
          <a:p>
            <a:r>
              <a:rPr lang="en-US" sz="480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</a:rPr>
              <a:t>in Fruit Harvesting Robots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68680" y="529481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Edward John Domingo</a:t>
            </a:r>
          </a:p>
          <a:p>
            <a:r>
              <a:rPr lang="en-US" sz="1600" dirty="0">
                <a:solidFill>
                  <a:srgbClr val="2E3A2B"/>
                </a:solidFill>
                <a:latin typeface="Proxima Nova" pitchFamily="34" charset="0"/>
              </a:rPr>
              <a:t>Supervisor: Yi Guo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A3254E4C-2EEA-BEF3-EE23-82D8B7D0174C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BACKGROUND</a:t>
            </a:r>
          </a:p>
          <a:p>
            <a:r>
              <a:rPr lang="en-AU" sz="1600" dirty="0">
                <a:solidFill>
                  <a:srgbClr val="6B8E4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B15ADED-4206-D2EC-772C-42589FD1786D}"/>
              </a:ext>
            </a:extLst>
          </p:cNvPr>
          <p:cNvGrpSpPr/>
          <p:nvPr/>
        </p:nvGrpSpPr>
        <p:grpSpPr>
          <a:xfrm>
            <a:off x="300727" y="2589223"/>
            <a:ext cx="11590545" cy="2137410"/>
            <a:chOff x="393700" y="2926080"/>
            <a:chExt cx="11404600" cy="2103120"/>
          </a:xfrm>
        </p:grpSpPr>
        <p:sp>
          <p:nvSpPr>
            <p:cNvPr id="30" name="Card 100">
              <a:extLst>
                <a:ext uri="{FF2B5EF4-FFF2-40B4-BE49-F238E27FC236}">
                  <a16:creationId xmlns:a16="http://schemas.microsoft.com/office/drawing/2014/main" id="{A77FE0E7-D715-16DE-0F5E-CBF6AEE57F7F}"/>
                </a:ext>
              </a:extLst>
            </p:cNvPr>
            <p:cNvSpPr/>
            <p:nvPr/>
          </p:nvSpPr>
          <p:spPr>
            <a:xfrm>
              <a:off x="393700" y="2926080"/>
              <a:ext cx="1965960" cy="2103120"/>
            </a:xfrm>
            <a:prstGeom prst="roundRect">
              <a:avLst>
                <a:gd name="adj" fmla="val 6000"/>
              </a:avLst>
            </a:prstGeom>
            <a:solidFill>
              <a:srgbClr val="2E3A2B"/>
            </a:solidFill>
            <a:ln/>
            <a:effectLst>
              <a:outerShdw blurRad="101600" dist="38100" dir="5400000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IconBg 101">
              <a:extLst>
                <a:ext uri="{FF2B5EF4-FFF2-40B4-BE49-F238E27FC236}">
                  <a16:creationId xmlns:a16="http://schemas.microsoft.com/office/drawing/2014/main" id="{BF01342A-70EF-6C3A-B93C-AB71B32E915C}"/>
                </a:ext>
              </a:extLst>
            </p:cNvPr>
            <p:cNvSpPr/>
            <p:nvPr/>
          </p:nvSpPr>
          <p:spPr>
            <a:xfrm>
              <a:off x="951680" y="3141160"/>
              <a:ext cx="850000" cy="850000"/>
            </a:xfrm>
            <a:prstGeom prst="ellipse">
              <a:avLst/>
            </a:prstGeom>
            <a:solidFill>
              <a:srgbClr val="C8492E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S 102">
              <a:extLst>
                <a:ext uri="{FF2B5EF4-FFF2-40B4-BE49-F238E27FC236}">
                  <a16:creationId xmlns:a16="http://schemas.microsoft.com/office/drawing/2014/main" id="{D162419E-0AF8-815C-360D-9CC1E7A447FA}"/>
                </a:ext>
              </a:extLst>
            </p:cNvPr>
            <p:cNvSpPr/>
            <p:nvPr/>
          </p:nvSpPr>
          <p:spPr>
            <a:xfrm>
              <a:off x="1166680" y="3446160"/>
              <a:ext cx="420000" cy="2700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E 103">
              <a:extLst>
                <a:ext uri="{FF2B5EF4-FFF2-40B4-BE49-F238E27FC236}">
                  <a16:creationId xmlns:a16="http://schemas.microsoft.com/office/drawing/2014/main" id="{53FD85C1-3828-E2C2-617A-CE2C453FCEEA}"/>
                </a:ext>
              </a:extLst>
            </p:cNvPr>
            <p:cNvSpPr/>
            <p:nvPr/>
          </p:nvSpPr>
          <p:spPr>
            <a:xfrm>
              <a:off x="1266680" y="3566160"/>
              <a:ext cx="220000" cy="220000"/>
            </a:xfrm>
            <a:prstGeom prst="ellipse">
              <a:avLst/>
            </a:prstGeom>
            <a:solidFill>
              <a:srgbClr val="C8492E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E 104">
              <a:extLst>
                <a:ext uri="{FF2B5EF4-FFF2-40B4-BE49-F238E27FC236}">
                  <a16:creationId xmlns:a16="http://schemas.microsoft.com/office/drawing/2014/main" id="{B1943B4D-FB1B-6E2B-AE54-01D4EB144977}"/>
                </a:ext>
              </a:extLst>
            </p:cNvPr>
            <p:cNvSpPr/>
            <p:nvPr/>
          </p:nvSpPr>
          <p:spPr>
            <a:xfrm>
              <a:off x="1316680" y="3616160"/>
              <a:ext cx="120000" cy="1200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S 105">
              <a:extLst>
                <a:ext uri="{FF2B5EF4-FFF2-40B4-BE49-F238E27FC236}">
                  <a16:creationId xmlns:a16="http://schemas.microsoft.com/office/drawing/2014/main" id="{FEDAF31F-C085-686F-BEC0-3DF3A1FAA1E1}"/>
                </a:ext>
              </a:extLst>
            </p:cNvPr>
            <p:cNvSpPr/>
            <p:nvPr/>
          </p:nvSpPr>
          <p:spPr>
            <a:xfrm>
              <a:off x="1306680" y="3386160"/>
              <a:ext cx="140000" cy="80000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 106">
              <a:extLst>
                <a:ext uri="{FF2B5EF4-FFF2-40B4-BE49-F238E27FC236}">
                  <a16:creationId xmlns:a16="http://schemas.microsoft.com/office/drawing/2014/main" id="{7FA14DC6-00EF-4F64-825B-06A3B7FBC1FE}"/>
                </a:ext>
              </a:extLst>
            </p:cNvPr>
            <p:cNvSpPr/>
            <p:nvPr/>
          </p:nvSpPr>
          <p:spPr>
            <a:xfrm>
              <a:off x="393700" y="4236720"/>
              <a:ext cx="1965960" cy="4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oxima Nova" pitchFamily="34" charset="0"/>
                  <a:ea typeface="Proxima Nova" pitchFamily="34" charset="-122"/>
                  <a:cs typeface="Proxima Nova" pitchFamily="34" charset="-120"/>
                </a:rPr>
                <a:t>Vision</a:t>
              </a:r>
            </a:p>
          </p:txBody>
        </p:sp>
        <p:sp>
          <p:nvSpPr>
            <p:cNvPr id="44" name="Card 107">
              <a:extLst>
                <a:ext uri="{FF2B5EF4-FFF2-40B4-BE49-F238E27FC236}">
                  <a16:creationId xmlns:a16="http://schemas.microsoft.com/office/drawing/2014/main" id="{BF6463EE-14EA-231F-60F1-C937AF77978D}"/>
                </a:ext>
              </a:extLst>
            </p:cNvPr>
            <p:cNvSpPr/>
            <p:nvPr/>
          </p:nvSpPr>
          <p:spPr>
            <a:xfrm>
              <a:off x="2753360" y="2926080"/>
              <a:ext cx="1965960" cy="21031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/>
            <a:effectLst>
              <a:outerShdw blurRad="101600" dist="38100" dir="5400000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IconBg 108">
              <a:extLst>
                <a:ext uri="{FF2B5EF4-FFF2-40B4-BE49-F238E27FC236}">
                  <a16:creationId xmlns:a16="http://schemas.microsoft.com/office/drawing/2014/main" id="{89CD7D52-3985-4171-AB60-FE058EF2F8F6}"/>
                </a:ext>
              </a:extLst>
            </p:cNvPr>
            <p:cNvSpPr/>
            <p:nvPr/>
          </p:nvSpPr>
          <p:spPr>
            <a:xfrm>
              <a:off x="3311340" y="3141160"/>
              <a:ext cx="850000" cy="850000"/>
            </a:xfrm>
            <a:prstGeom prst="ellipse">
              <a:avLst/>
            </a:prstGeom>
            <a:solidFill>
              <a:srgbClr val="EDE6D6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Icon 109">
              <a:extLst>
                <a:ext uri="{FF2B5EF4-FFF2-40B4-BE49-F238E27FC236}">
                  <a16:creationId xmlns:a16="http://schemas.microsoft.com/office/drawing/2014/main" id="{5BDA8052-E58B-BBC6-92B6-802227035480}"/>
                </a:ext>
              </a:extLst>
            </p:cNvPr>
            <p:cNvSpPr/>
            <p:nvPr/>
          </p:nvSpPr>
          <p:spPr>
            <a:xfrm>
              <a:off x="3586340" y="3336160"/>
              <a:ext cx="300000" cy="460000"/>
            </a:xfrm>
            <a:custGeom>
              <a:avLst/>
              <a:gdLst/>
              <a:ahLst/>
              <a:cxnLst/>
              <a:rect l="0" t="0" r="200" b="260"/>
              <a:pathLst>
                <a:path w="200" h="260">
                  <a:moveTo>
                    <a:pt x="100" y="260"/>
                  </a:moveTo>
                  <a:cubicBezTo>
                    <a:pt x="20" y="150"/>
                    <a:pt x="0" y="110"/>
                    <a:pt x="0" y="80"/>
                  </a:cubicBezTo>
                  <a:cubicBezTo>
                    <a:pt x="0" y="36"/>
                    <a:pt x="45" y="0"/>
                    <a:pt x="100" y="0"/>
                  </a:cubicBezTo>
                  <a:cubicBezTo>
                    <a:pt x="155" y="0"/>
                    <a:pt x="200" y="36"/>
                    <a:pt x="200" y="80"/>
                  </a:cubicBezTo>
                  <a:cubicBezTo>
                    <a:pt x="200" y="110"/>
                    <a:pt x="180" y="150"/>
                    <a:pt x="100" y="260"/>
                  </a:cubicBezTo>
                  <a:close/>
                </a:path>
              </a:pathLst>
            </a:custGeom>
            <a:solidFill>
              <a:srgbClr val="2E3A2B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E 110">
              <a:extLst>
                <a:ext uri="{FF2B5EF4-FFF2-40B4-BE49-F238E27FC236}">
                  <a16:creationId xmlns:a16="http://schemas.microsoft.com/office/drawing/2014/main" id="{1140F854-5798-E470-FEA7-E21625B73696}"/>
                </a:ext>
              </a:extLst>
            </p:cNvPr>
            <p:cNvSpPr/>
            <p:nvPr/>
          </p:nvSpPr>
          <p:spPr>
            <a:xfrm>
              <a:off x="3681340" y="3426160"/>
              <a:ext cx="110000" cy="1100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Text 111">
              <a:extLst>
                <a:ext uri="{FF2B5EF4-FFF2-40B4-BE49-F238E27FC236}">
                  <a16:creationId xmlns:a16="http://schemas.microsoft.com/office/drawing/2014/main" id="{8B3BA5D4-4F3D-49AF-6D12-777B5FFE0A4D}"/>
                </a:ext>
              </a:extLst>
            </p:cNvPr>
            <p:cNvSpPr/>
            <p:nvPr/>
          </p:nvSpPr>
          <p:spPr>
            <a:xfrm>
              <a:off x="2753360" y="4236720"/>
              <a:ext cx="1965960" cy="4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2E3A2B"/>
                  </a:solidFill>
                  <a:latin typeface="Proxima Nova" pitchFamily="34" charset="0"/>
                  <a:ea typeface="Proxima Nova" pitchFamily="34" charset="-122"/>
                  <a:cs typeface="Proxima Nova" pitchFamily="34" charset="-120"/>
                </a:rPr>
                <a:t>Localisation</a:t>
              </a:r>
            </a:p>
          </p:txBody>
        </p:sp>
        <p:sp>
          <p:nvSpPr>
            <p:cNvPr id="54" name="Card 112">
              <a:extLst>
                <a:ext uri="{FF2B5EF4-FFF2-40B4-BE49-F238E27FC236}">
                  <a16:creationId xmlns:a16="http://schemas.microsoft.com/office/drawing/2014/main" id="{6765E6D4-0F9C-94FC-159D-9AC9430D0A9C}"/>
                </a:ext>
              </a:extLst>
            </p:cNvPr>
            <p:cNvSpPr/>
            <p:nvPr/>
          </p:nvSpPr>
          <p:spPr>
            <a:xfrm>
              <a:off x="5113020" y="2926080"/>
              <a:ext cx="1965960" cy="21031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/>
            <a:effectLst>
              <a:outerShdw blurRad="101600" dist="38100" dir="5400000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IconBg 113">
              <a:extLst>
                <a:ext uri="{FF2B5EF4-FFF2-40B4-BE49-F238E27FC236}">
                  <a16:creationId xmlns:a16="http://schemas.microsoft.com/office/drawing/2014/main" id="{86CC0ACA-DA87-D7FC-788B-454ACE6A0310}"/>
                </a:ext>
              </a:extLst>
            </p:cNvPr>
            <p:cNvSpPr/>
            <p:nvPr/>
          </p:nvSpPr>
          <p:spPr>
            <a:xfrm>
              <a:off x="5671000" y="3141160"/>
              <a:ext cx="850000" cy="850000"/>
            </a:xfrm>
            <a:prstGeom prst="ellipse">
              <a:avLst/>
            </a:prstGeom>
            <a:solidFill>
              <a:srgbClr val="EDE6D6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E 114">
              <a:extLst>
                <a:ext uri="{FF2B5EF4-FFF2-40B4-BE49-F238E27FC236}">
                  <a16:creationId xmlns:a16="http://schemas.microsoft.com/office/drawing/2014/main" id="{160A144F-AA5A-0DAC-077F-46B0767D4276}"/>
                </a:ext>
              </a:extLst>
            </p:cNvPr>
            <p:cNvSpPr/>
            <p:nvPr/>
          </p:nvSpPr>
          <p:spPr>
            <a:xfrm>
              <a:off x="5886000" y="3606160"/>
              <a:ext cx="120000" cy="120000"/>
            </a:xfrm>
            <a:prstGeom prst="ellipse">
              <a:avLst/>
            </a:prstGeom>
            <a:solidFill>
              <a:srgbClr val="2E3A2B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E 115">
              <a:extLst>
                <a:ext uri="{FF2B5EF4-FFF2-40B4-BE49-F238E27FC236}">
                  <a16:creationId xmlns:a16="http://schemas.microsoft.com/office/drawing/2014/main" id="{CDFE9BA9-58D9-338F-F84E-C428EEC01FA3}"/>
                </a:ext>
              </a:extLst>
            </p:cNvPr>
            <p:cNvSpPr/>
            <p:nvPr/>
          </p:nvSpPr>
          <p:spPr>
            <a:xfrm>
              <a:off x="6186000" y="3356160"/>
              <a:ext cx="120000" cy="120000"/>
            </a:xfrm>
            <a:prstGeom prst="ellipse">
              <a:avLst/>
            </a:prstGeom>
            <a:solidFill>
              <a:srgbClr val="2E3A2B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E 116">
              <a:extLst>
                <a:ext uri="{FF2B5EF4-FFF2-40B4-BE49-F238E27FC236}">
                  <a16:creationId xmlns:a16="http://schemas.microsoft.com/office/drawing/2014/main" id="{A8E0AB4C-E13A-2870-1BAE-52C8C45CF076}"/>
                </a:ext>
              </a:extLst>
            </p:cNvPr>
            <p:cNvSpPr/>
            <p:nvPr/>
          </p:nvSpPr>
          <p:spPr>
            <a:xfrm>
              <a:off x="6046000" y="3606160"/>
              <a:ext cx="55000" cy="55000"/>
            </a:xfrm>
            <a:prstGeom prst="ellipse">
              <a:avLst/>
            </a:prstGeom>
            <a:solidFill>
              <a:srgbClr val="2E3A2B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E 117">
              <a:extLst>
                <a:ext uri="{FF2B5EF4-FFF2-40B4-BE49-F238E27FC236}">
                  <a16:creationId xmlns:a16="http://schemas.microsoft.com/office/drawing/2014/main" id="{D3884E6A-0C15-D1D8-9B2E-6588CF4F1C32}"/>
                </a:ext>
              </a:extLst>
            </p:cNvPr>
            <p:cNvSpPr/>
            <p:nvPr/>
          </p:nvSpPr>
          <p:spPr>
            <a:xfrm>
              <a:off x="6116000" y="3516160"/>
              <a:ext cx="55000" cy="55000"/>
            </a:xfrm>
            <a:prstGeom prst="ellipse">
              <a:avLst/>
            </a:prstGeom>
            <a:solidFill>
              <a:srgbClr val="2E3A2B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66" name="E 118">
              <a:extLst>
                <a:ext uri="{FF2B5EF4-FFF2-40B4-BE49-F238E27FC236}">
                  <a16:creationId xmlns:a16="http://schemas.microsoft.com/office/drawing/2014/main" id="{82014E21-5314-0B44-8127-A0D386BDFBA8}"/>
                </a:ext>
              </a:extLst>
            </p:cNvPr>
            <p:cNvSpPr/>
            <p:nvPr/>
          </p:nvSpPr>
          <p:spPr>
            <a:xfrm>
              <a:off x="6186000" y="3436160"/>
              <a:ext cx="55000" cy="55000"/>
            </a:xfrm>
            <a:prstGeom prst="ellipse">
              <a:avLst/>
            </a:prstGeom>
            <a:solidFill>
              <a:srgbClr val="2E3A2B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68" name="Text 119">
              <a:extLst>
                <a:ext uri="{FF2B5EF4-FFF2-40B4-BE49-F238E27FC236}">
                  <a16:creationId xmlns:a16="http://schemas.microsoft.com/office/drawing/2014/main" id="{D3401539-44D0-A2B2-4BC5-1F0B44F7E6C9}"/>
                </a:ext>
              </a:extLst>
            </p:cNvPr>
            <p:cNvSpPr/>
            <p:nvPr/>
          </p:nvSpPr>
          <p:spPr>
            <a:xfrm>
              <a:off x="5113020" y="4236720"/>
              <a:ext cx="1965960" cy="4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2E3A2B"/>
                  </a:solidFill>
                  <a:latin typeface="Proxima Nova" pitchFamily="34" charset="0"/>
                  <a:ea typeface="Proxima Nova" pitchFamily="34" charset="-122"/>
                  <a:cs typeface="Proxima Nova" pitchFamily="34" charset="-120"/>
                </a:rPr>
                <a:t>Path Planning</a:t>
              </a:r>
            </a:p>
          </p:txBody>
        </p:sp>
        <p:sp>
          <p:nvSpPr>
            <p:cNvPr id="70" name="Card 120">
              <a:extLst>
                <a:ext uri="{FF2B5EF4-FFF2-40B4-BE49-F238E27FC236}">
                  <a16:creationId xmlns:a16="http://schemas.microsoft.com/office/drawing/2014/main" id="{297F293F-7C59-D77E-0F56-3A2B488720EF}"/>
                </a:ext>
              </a:extLst>
            </p:cNvPr>
            <p:cNvSpPr/>
            <p:nvPr/>
          </p:nvSpPr>
          <p:spPr>
            <a:xfrm>
              <a:off x="7472680" y="2926080"/>
              <a:ext cx="1965960" cy="21031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/>
            <a:effectLst>
              <a:outerShdw blurRad="101600" dist="38100" dir="5400000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72" name="IconBg 121">
              <a:extLst>
                <a:ext uri="{FF2B5EF4-FFF2-40B4-BE49-F238E27FC236}">
                  <a16:creationId xmlns:a16="http://schemas.microsoft.com/office/drawing/2014/main" id="{C88B761E-1B35-59CC-5BC3-66B7796876DC}"/>
                </a:ext>
              </a:extLst>
            </p:cNvPr>
            <p:cNvSpPr/>
            <p:nvPr/>
          </p:nvSpPr>
          <p:spPr>
            <a:xfrm>
              <a:off x="8030660" y="3141160"/>
              <a:ext cx="850000" cy="850000"/>
            </a:xfrm>
            <a:prstGeom prst="ellipse">
              <a:avLst/>
            </a:prstGeom>
            <a:solidFill>
              <a:srgbClr val="EDE6D6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74" name="S 122">
              <a:extLst>
                <a:ext uri="{FF2B5EF4-FFF2-40B4-BE49-F238E27FC236}">
                  <a16:creationId xmlns:a16="http://schemas.microsoft.com/office/drawing/2014/main" id="{5FACFAF5-D85F-096B-4A7E-61B1C956908D}"/>
                </a:ext>
              </a:extLst>
            </p:cNvPr>
            <p:cNvSpPr/>
            <p:nvPr/>
          </p:nvSpPr>
          <p:spPr>
            <a:xfrm>
              <a:off x="8295660" y="3356160"/>
              <a:ext cx="90000" cy="260000"/>
            </a:xfrm>
            <a:prstGeom prst="roundRect">
              <a:avLst>
                <a:gd name="adj" fmla="val 30000"/>
              </a:avLst>
            </a:prstGeom>
            <a:solidFill>
              <a:srgbClr val="2E3A2B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S 123">
              <a:extLst>
                <a:ext uri="{FF2B5EF4-FFF2-40B4-BE49-F238E27FC236}">
                  <a16:creationId xmlns:a16="http://schemas.microsoft.com/office/drawing/2014/main" id="{8AB386A3-AEEB-D243-2852-C431A4E96071}"/>
                </a:ext>
              </a:extLst>
            </p:cNvPr>
            <p:cNvSpPr/>
            <p:nvPr/>
          </p:nvSpPr>
          <p:spPr>
            <a:xfrm>
              <a:off x="8525660" y="3356160"/>
              <a:ext cx="90000" cy="260000"/>
            </a:xfrm>
            <a:prstGeom prst="roundRect">
              <a:avLst>
                <a:gd name="adj" fmla="val 30000"/>
              </a:avLst>
            </a:prstGeom>
            <a:solidFill>
              <a:srgbClr val="2E3A2B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78" name="S 124">
              <a:extLst>
                <a:ext uri="{FF2B5EF4-FFF2-40B4-BE49-F238E27FC236}">
                  <a16:creationId xmlns:a16="http://schemas.microsoft.com/office/drawing/2014/main" id="{D977909E-93C5-1576-E852-A0A0E06DC9A6}"/>
                </a:ext>
              </a:extLst>
            </p:cNvPr>
            <p:cNvSpPr/>
            <p:nvPr/>
          </p:nvSpPr>
          <p:spPr>
            <a:xfrm>
              <a:off x="8295660" y="3606160"/>
              <a:ext cx="320000" cy="90000"/>
            </a:xfrm>
            <a:prstGeom prst="roundRect">
              <a:avLst>
                <a:gd name="adj" fmla="val 30000"/>
              </a:avLst>
            </a:prstGeom>
            <a:solidFill>
              <a:srgbClr val="2E3A2B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80" name="S 125">
              <a:extLst>
                <a:ext uri="{FF2B5EF4-FFF2-40B4-BE49-F238E27FC236}">
                  <a16:creationId xmlns:a16="http://schemas.microsoft.com/office/drawing/2014/main" id="{232475DA-7CBF-C157-F8D1-1AA8CFA3DCF5}"/>
                </a:ext>
              </a:extLst>
            </p:cNvPr>
            <p:cNvSpPr/>
            <p:nvPr/>
          </p:nvSpPr>
          <p:spPr>
            <a:xfrm>
              <a:off x="8410660" y="3686160"/>
              <a:ext cx="90000" cy="90000"/>
            </a:xfrm>
            <a:prstGeom prst="roundRect">
              <a:avLst>
                <a:gd name="adj" fmla="val 30000"/>
              </a:avLst>
            </a:prstGeom>
            <a:solidFill>
              <a:srgbClr val="2E3A2B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82" name="Text 126">
              <a:extLst>
                <a:ext uri="{FF2B5EF4-FFF2-40B4-BE49-F238E27FC236}">
                  <a16:creationId xmlns:a16="http://schemas.microsoft.com/office/drawing/2014/main" id="{B476E32C-1AC9-6E8B-E1F5-9C91AEEEFDCB}"/>
                </a:ext>
              </a:extLst>
            </p:cNvPr>
            <p:cNvSpPr/>
            <p:nvPr/>
          </p:nvSpPr>
          <p:spPr>
            <a:xfrm>
              <a:off x="7472680" y="4236720"/>
              <a:ext cx="1965960" cy="4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2E3A2B"/>
                  </a:solidFill>
                  <a:latin typeface="Proxima Nova" pitchFamily="34" charset="0"/>
                  <a:ea typeface="Proxima Nova" pitchFamily="34" charset="-122"/>
                  <a:cs typeface="Proxima Nova" pitchFamily="34" charset="-120"/>
                </a:rPr>
                <a:t>Grasping</a:t>
              </a:r>
            </a:p>
          </p:txBody>
        </p:sp>
        <p:sp>
          <p:nvSpPr>
            <p:cNvPr id="84" name="Card 127">
              <a:extLst>
                <a:ext uri="{FF2B5EF4-FFF2-40B4-BE49-F238E27FC236}">
                  <a16:creationId xmlns:a16="http://schemas.microsoft.com/office/drawing/2014/main" id="{A91A19A4-CB82-A21F-0175-F5EF93C18883}"/>
                </a:ext>
              </a:extLst>
            </p:cNvPr>
            <p:cNvSpPr/>
            <p:nvPr/>
          </p:nvSpPr>
          <p:spPr>
            <a:xfrm>
              <a:off x="9832340" y="2926080"/>
              <a:ext cx="1965960" cy="21031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/>
            <a:effectLst>
              <a:outerShdw blurRad="101600" dist="38100" dir="5400000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86" name="IconBg 128">
              <a:extLst>
                <a:ext uri="{FF2B5EF4-FFF2-40B4-BE49-F238E27FC236}">
                  <a16:creationId xmlns:a16="http://schemas.microsoft.com/office/drawing/2014/main" id="{68D4EFF9-E80B-9AC6-8596-6AB0D03A5871}"/>
                </a:ext>
              </a:extLst>
            </p:cNvPr>
            <p:cNvSpPr/>
            <p:nvPr/>
          </p:nvSpPr>
          <p:spPr>
            <a:xfrm>
              <a:off x="10390320" y="3141160"/>
              <a:ext cx="850000" cy="850000"/>
            </a:xfrm>
            <a:prstGeom prst="ellipse">
              <a:avLst/>
            </a:prstGeom>
            <a:solidFill>
              <a:srgbClr val="EDE6D6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88" name="E 129">
              <a:extLst>
                <a:ext uri="{FF2B5EF4-FFF2-40B4-BE49-F238E27FC236}">
                  <a16:creationId xmlns:a16="http://schemas.microsoft.com/office/drawing/2014/main" id="{26BD1ABB-16F7-F202-13CE-C26D80E2DACF}"/>
                </a:ext>
              </a:extLst>
            </p:cNvPr>
            <p:cNvSpPr/>
            <p:nvPr/>
          </p:nvSpPr>
          <p:spPr>
            <a:xfrm>
              <a:off x="10655320" y="3436160"/>
              <a:ext cx="320000" cy="300000"/>
            </a:xfrm>
            <a:prstGeom prst="ellipse">
              <a:avLst/>
            </a:prstGeom>
            <a:solidFill>
              <a:srgbClr val="C8492E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90" name="Icon 130">
              <a:extLst>
                <a:ext uri="{FF2B5EF4-FFF2-40B4-BE49-F238E27FC236}">
                  <a16:creationId xmlns:a16="http://schemas.microsoft.com/office/drawing/2014/main" id="{6BFBE22F-C854-FA9C-101F-6F732A0DB574}"/>
                </a:ext>
              </a:extLst>
            </p:cNvPr>
            <p:cNvSpPr/>
            <p:nvPr/>
          </p:nvSpPr>
          <p:spPr>
            <a:xfrm>
              <a:off x="10765320" y="3366160"/>
              <a:ext cx="140000" cy="110000"/>
            </a:xfrm>
            <a:custGeom>
              <a:avLst/>
              <a:gdLst/>
              <a:ahLst/>
              <a:cxnLst/>
              <a:rect l="0" t="0" r="100" b="80"/>
              <a:pathLst>
                <a:path w="100" h="80">
                  <a:moveTo>
                    <a:pt x="50" y="80"/>
                  </a:moveTo>
                  <a:lnTo>
                    <a:pt x="0" y="0"/>
                  </a:lnTo>
                  <a:lnTo>
                    <a:pt x="50" y="3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2E5E2E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92" name="Text 131">
              <a:extLst>
                <a:ext uri="{FF2B5EF4-FFF2-40B4-BE49-F238E27FC236}">
                  <a16:creationId xmlns:a16="http://schemas.microsoft.com/office/drawing/2014/main" id="{5B44F29F-E24F-54A1-E1F6-200FD77C6C34}"/>
                </a:ext>
              </a:extLst>
            </p:cNvPr>
            <p:cNvSpPr/>
            <p:nvPr/>
          </p:nvSpPr>
          <p:spPr>
            <a:xfrm>
              <a:off x="9832340" y="4236720"/>
              <a:ext cx="1965960" cy="4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2E3A2B"/>
                  </a:solidFill>
                  <a:latin typeface="Proxima Nova" pitchFamily="34" charset="0"/>
                  <a:ea typeface="Proxima Nova" pitchFamily="34" charset="-122"/>
                  <a:cs typeface="Proxima Nova" pitchFamily="34" charset="-120"/>
                </a:rPr>
                <a:t>Harvest</a:t>
              </a:r>
            </a:p>
          </p:txBody>
        </p:sp>
        <p:sp>
          <p:nvSpPr>
            <p:cNvPr id="94" name="Arrow 132">
              <a:extLst>
                <a:ext uri="{FF2B5EF4-FFF2-40B4-BE49-F238E27FC236}">
                  <a16:creationId xmlns:a16="http://schemas.microsoft.com/office/drawing/2014/main" id="{B26D42DF-CCEF-723F-82E6-9020BE4EA541}"/>
                </a:ext>
              </a:extLst>
            </p:cNvPr>
            <p:cNvSpPr/>
            <p:nvPr/>
          </p:nvSpPr>
          <p:spPr>
            <a:xfrm>
              <a:off x="2389660" y="3877640"/>
              <a:ext cx="333700" cy="200000"/>
            </a:xfrm>
            <a:prstGeom prst="rightArrow">
              <a:avLst>
                <a:gd name="adj1" fmla="val 50000"/>
                <a:gd name="adj2" fmla="val 55000"/>
              </a:avLst>
            </a:prstGeom>
            <a:solidFill>
              <a:srgbClr val="C8492E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96" name="Arrow 133">
              <a:extLst>
                <a:ext uri="{FF2B5EF4-FFF2-40B4-BE49-F238E27FC236}">
                  <a16:creationId xmlns:a16="http://schemas.microsoft.com/office/drawing/2014/main" id="{858690FC-0AE6-AFBD-98D9-50E91CEE4CF1}"/>
                </a:ext>
              </a:extLst>
            </p:cNvPr>
            <p:cNvSpPr/>
            <p:nvPr/>
          </p:nvSpPr>
          <p:spPr>
            <a:xfrm>
              <a:off x="4749320" y="3877640"/>
              <a:ext cx="333700" cy="200000"/>
            </a:xfrm>
            <a:prstGeom prst="rightArrow">
              <a:avLst>
                <a:gd name="adj1" fmla="val 50000"/>
                <a:gd name="adj2" fmla="val 55000"/>
              </a:avLst>
            </a:prstGeom>
            <a:solidFill>
              <a:srgbClr val="7A7666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98" name="Arrow 134">
              <a:extLst>
                <a:ext uri="{FF2B5EF4-FFF2-40B4-BE49-F238E27FC236}">
                  <a16:creationId xmlns:a16="http://schemas.microsoft.com/office/drawing/2014/main" id="{1081438B-97B1-73DB-67C4-533175A6364E}"/>
                </a:ext>
              </a:extLst>
            </p:cNvPr>
            <p:cNvSpPr/>
            <p:nvPr/>
          </p:nvSpPr>
          <p:spPr>
            <a:xfrm>
              <a:off x="7108980" y="3877640"/>
              <a:ext cx="333700" cy="200000"/>
            </a:xfrm>
            <a:prstGeom prst="rightArrow">
              <a:avLst>
                <a:gd name="adj1" fmla="val 50000"/>
                <a:gd name="adj2" fmla="val 55000"/>
              </a:avLst>
            </a:prstGeom>
            <a:solidFill>
              <a:srgbClr val="7A7666"/>
            </a:solidFill>
            <a:ln/>
          </p:spPr>
          <p:txBody>
            <a:bodyPr/>
            <a:lstStyle/>
            <a:p>
              <a:endParaRPr lang="en-AU"/>
            </a:p>
          </p:txBody>
        </p:sp>
        <p:sp>
          <p:nvSpPr>
            <p:cNvPr id="100" name="Arrow 135">
              <a:extLst>
                <a:ext uri="{FF2B5EF4-FFF2-40B4-BE49-F238E27FC236}">
                  <a16:creationId xmlns:a16="http://schemas.microsoft.com/office/drawing/2014/main" id="{5C1CC743-79DF-3D2A-F82E-F830FFF3595A}"/>
                </a:ext>
              </a:extLst>
            </p:cNvPr>
            <p:cNvSpPr/>
            <p:nvPr/>
          </p:nvSpPr>
          <p:spPr>
            <a:xfrm>
              <a:off x="9468640" y="3877640"/>
              <a:ext cx="333700" cy="200000"/>
            </a:xfrm>
            <a:prstGeom prst="rightArrow">
              <a:avLst>
                <a:gd name="adj1" fmla="val 50000"/>
                <a:gd name="adj2" fmla="val 55000"/>
              </a:avLst>
            </a:prstGeom>
            <a:solidFill>
              <a:srgbClr val="7A7666"/>
            </a:solidFill>
            <a:ln/>
          </p:spPr>
          <p:txBody>
            <a:bodyPr/>
            <a:lstStyle/>
            <a:p>
              <a:endParaRPr lang="en-AU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81DDA-8646-D378-DE1E-6736F4132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1">
            <a:extLst>
              <a:ext uri="{FF2B5EF4-FFF2-40B4-BE49-F238E27FC236}">
                <a16:creationId xmlns:a16="http://schemas.microsoft.com/office/drawing/2014/main" id="{DB6BB42D-FD10-EFD7-2CCA-EDA7EE7C9A27}"/>
              </a:ext>
            </a:extLst>
          </p:cNvPr>
          <p:cNvSpPr/>
          <p:nvPr/>
        </p:nvSpPr>
        <p:spPr>
          <a:xfrm>
            <a:off x="640080" y="1737360"/>
            <a:ext cx="6370320" cy="4745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US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Instance Segmentation:</a:t>
            </a:r>
            <a:br>
              <a:rPr lang="en-US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</a:b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detects objects</a:t>
            </a:r>
            <a:b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</a:b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assigns a class</a:t>
            </a:r>
            <a:b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</a:b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pixel level mask per instance</a:t>
            </a:r>
            <a:br>
              <a:rPr lang="en-US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</a:br>
            <a:endParaRPr lang="en-AU" sz="2800" dirty="0">
              <a:solidFill>
                <a:srgbClr val="2E3A2B"/>
              </a:solidFill>
              <a:latin typeface="Proxima Nova" panose="02000506030000020004" pitchFamily="2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Existing architectures take </a:t>
            </a:r>
            <a:r>
              <a:rPr lang="en-AU" sz="2800" dirty="0">
                <a:solidFill>
                  <a:srgbClr val="C8492E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RGB inputs</a:t>
            </a: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:</a:t>
            </a:r>
            <a:b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</a:b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YOLO</a:t>
            </a:r>
            <a:b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</a:b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Mask-RCNN</a:t>
            </a:r>
            <a:b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</a:b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Mask2Former </a:t>
            </a:r>
            <a:r>
              <a:rPr lang="en-AU" sz="2800" dirty="0">
                <a:solidFill>
                  <a:srgbClr val="7A7666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(used in this project)</a:t>
            </a:r>
          </a:p>
          <a:p>
            <a:pPr>
              <a:spcAft>
                <a:spcPts val="1200"/>
              </a:spcAft>
              <a:buSzPct val="100000"/>
            </a:pPr>
            <a:endParaRPr lang="en-AU" sz="2800" dirty="0">
              <a:solidFill>
                <a:srgbClr val="2E3A2B"/>
              </a:solidFill>
              <a:latin typeface="Proxima Nova" panose="02000506030000020004" pitchFamily="2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  <a:buSzPct val="100000"/>
            </a:pPr>
            <a:endParaRPr lang="en-AU" sz="2800" dirty="0">
              <a:solidFill>
                <a:srgbClr val="2E3A2B"/>
              </a:solidFill>
              <a:latin typeface="Proxima Nova" panose="02000506030000020004" pitchFamily="2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DD498EAD-D9C2-9E0A-D8E0-E65FCD849314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INSTANCE SEGMENTATION</a:t>
            </a:r>
          </a:p>
          <a:p>
            <a:r>
              <a:rPr lang="en-AU" sz="1600" dirty="0">
                <a:solidFill>
                  <a:srgbClr val="6B8E4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954C4C-8E6D-606C-0AEF-71B0D7CB2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97" r="50078" b="185"/>
          <a:stretch>
            <a:fillRect/>
          </a:stretch>
        </p:blipFill>
        <p:spPr>
          <a:xfrm>
            <a:off x="6827520" y="2068261"/>
            <a:ext cx="5101589" cy="310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81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9A8CA-4935-A4B5-4A10-773D19590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1">
            <a:extLst>
              <a:ext uri="{FF2B5EF4-FFF2-40B4-BE49-F238E27FC236}">
                <a16:creationId xmlns:a16="http://schemas.microsoft.com/office/drawing/2014/main" id="{4C5BB00D-64B7-FAEF-4579-C1A3348628D5}"/>
              </a:ext>
            </a:extLst>
          </p:cNvPr>
          <p:cNvSpPr/>
          <p:nvPr/>
        </p:nvSpPr>
        <p:spPr>
          <a:xfrm>
            <a:off x="640080" y="1737360"/>
            <a:ext cx="63068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RGB-only segmentation struggles with:</a:t>
            </a:r>
            <a:b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</a:b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Occluded fruits</a:t>
            </a:r>
            <a:b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</a:b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Colour blending</a:t>
            </a:r>
          </a:p>
          <a:p>
            <a:pPr>
              <a:spcAft>
                <a:spcPts val="1200"/>
              </a:spcAft>
              <a:buSzPct val="100000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Depth is a complementary modality. It carries geometric information colour lacks.</a:t>
            </a: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4BF43CA5-C22B-B3D5-F5C7-7249D23D78E9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WHY ADD DEPTH?</a:t>
            </a:r>
          </a:p>
          <a:p>
            <a:r>
              <a:rPr lang="en-AU" sz="1600" dirty="0">
                <a:solidFill>
                  <a:srgbClr val="6B8E4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pic>
        <p:nvPicPr>
          <p:cNvPr id="12" name="Picture 3" descr="Frontiers | An occluded cherry tomato recognition model based on improved YOLOv7">
            <a:extLst>
              <a:ext uri="{FF2B5EF4-FFF2-40B4-BE49-F238E27FC236}">
                <a16:creationId xmlns:a16="http://schemas.microsoft.com/office/drawing/2014/main" id="{4FE78820-5F8A-B4B0-556A-5ED64B8B89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2" t="4815" r="4093" b="7038"/>
          <a:stretch>
            <a:fillRect/>
          </a:stretch>
        </p:blipFill>
        <p:spPr bwMode="auto">
          <a:xfrm>
            <a:off x="7278329" y="390832"/>
            <a:ext cx="4537930" cy="581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9F1FE9-5FE3-3628-58AC-561F6A9EAEC9}"/>
              </a:ext>
            </a:extLst>
          </p:cNvPr>
          <p:cNvSpPr txBox="1"/>
          <p:nvPr/>
        </p:nvSpPr>
        <p:spPr>
          <a:xfrm>
            <a:off x="7278328" y="6144002"/>
            <a:ext cx="4243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7A7666"/>
                </a:solidFill>
                <a:latin typeface="Proxima Nova" panose="02000506030000020004" pitchFamily="2" charset="0"/>
              </a:rPr>
              <a:t>Tomato Detection. Source: Hou et al., (2023)</a:t>
            </a:r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106EA0E5-3647-787E-C0E8-8075548D800E}"/>
              </a:ext>
            </a:extLst>
          </p:cNvPr>
          <p:cNvSpPr/>
          <p:nvPr/>
        </p:nvSpPr>
        <p:spPr>
          <a:xfrm>
            <a:off x="1142194" y="4809232"/>
            <a:ext cx="5120640" cy="133477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BD426520-282E-EDE0-4045-21ED09DA9E7A}"/>
              </a:ext>
            </a:extLst>
          </p:cNvPr>
          <p:cNvSpPr/>
          <p:nvPr/>
        </p:nvSpPr>
        <p:spPr>
          <a:xfrm>
            <a:off x="1416514" y="5187708"/>
            <a:ext cx="594360" cy="594360"/>
          </a:xfrm>
          <a:prstGeom prst="ellipse">
            <a:avLst/>
          </a:prstGeom>
          <a:solidFill>
            <a:srgbClr val="6B8E4E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7D078F2C-37D0-B0EC-8BC6-85E2DB87F486}"/>
              </a:ext>
            </a:extLst>
          </p:cNvPr>
          <p:cNvSpPr/>
          <p:nvPr/>
        </p:nvSpPr>
        <p:spPr>
          <a:xfrm>
            <a:off x="2193754" y="5102735"/>
            <a:ext cx="3931920" cy="764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Would adding depth improve segmentation accuracy?</a:t>
            </a:r>
            <a:endParaRPr lang="en-US" sz="2400" dirty="0">
              <a:solidFill>
                <a:srgbClr val="2E3A2B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559D595-74B3-4BE6-D83B-97A59F1829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6515" y="5187709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2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EFE98-9841-34C0-4036-69C6127B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7E081E15-0D35-EEEC-5A19-1C3D038026EE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RESEARCH DESIGN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471862-05EF-EC6F-BA12-CA81CCB35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0424"/>
            <a:ext cx="12192000" cy="3502258"/>
          </a:xfrm>
          <a:prstGeom prst="rect">
            <a:avLst/>
          </a:prstGeom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C027ED86-D0F0-37DE-80A1-B350E43AFDBD}"/>
              </a:ext>
            </a:extLst>
          </p:cNvPr>
          <p:cNvGrpSpPr/>
          <p:nvPr/>
        </p:nvGrpSpPr>
        <p:grpSpPr>
          <a:xfrm>
            <a:off x="638543" y="5494858"/>
            <a:ext cx="5294574" cy="1173684"/>
            <a:chOff x="822961" y="1737360"/>
            <a:chExt cx="5156159" cy="1143000"/>
          </a:xfrm>
        </p:grpSpPr>
        <p:sp>
          <p:nvSpPr>
            <p:cNvPr id="71" name="Shape 1">
              <a:extLst>
                <a:ext uri="{FF2B5EF4-FFF2-40B4-BE49-F238E27FC236}">
                  <a16:creationId xmlns:a16="http://schemas.microsoft.com/office/drawing/2014/main" id="{A65B2603-55BF-E5B5-6CDB-F4AB80318582}"/>
                </a:ext>
              </a:extLst>
            </p:cNvPr>
            <p:cNvSpPr/>
            <p:nvPr/>
          </p:nvSpPr>
          <p:spPr>
            <a:xfrm>
              <a:off x="822961" y="1737360"/>
              <a:ext cx="5156159" cy="11430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Shape 2">
              <a:extLst>
                <a:ext uri="{FF2B5EF4-FFF2-40B4-BE49-F238E27FC236}">
                  <a16:creationId xmlns:a16="http://schemas.microsoft.com/office/drawing/2014/main" id="{A77AE827-82C5-2C71-2017-F6A9FEB8293C}"/>
                </a:ext>
              </a:extLst>
            </p:cNvPr>
            <p:cNvSpPr/>
            <p:nvPr/>
          </p:nvSpPr>
          <p:spPr>
            <a:xfrm>
              <a:off x="1097280" y="2011680"/>
              <a:ext cx="594360" cy="594360"/>
            </a:xfrm>
            <a:prstGeom prst="ellipse">
              <a:avLst/>
            </a:prstGeom>
            <a:solidFill>
              <a:srgbClr val="6B8E4E"/>
            </a:solidFill>
            <a:ln/>
            <a:effectLst>
              <a:outerShdw blurRad="63500" dist="25400" dir="54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Text 4">
              <a:extLst>
                <a:ext uri="{FF2B5EF4-FFF2-40B4-BE49-F238E27FC236}">
                  <a16:creationId xmlns:a16="http://schemas.microsoft.com/office/drawing/2014/main" id="{7E6D88E5-549C-DA8B-4E1C-CCB27899DF28}"/>
                </a:ext>
              </a:extLst>
            </p:cNvPr>
            <p:cNvSpPr/>
            <p:nvPr/>
          </p:nvSpPr>
          <p:spPr>
            <a:xfrm>
              <a:off x="1874520" y="1975104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2E3A2B"/>
                  </a:solidFill>
                  <a:latin typeface="Proxima Nova" pitchFamily="34" charset="0"/>
                  <a:ea typeface="Proxima Nova" pitchFamily="34" charset="-122"/>
                  <a:cs typeface="Proxima Nova" pitchFamily="34" charset="-120"/>
                </a:rPr>
                <a:t>Base Architecture</a:t>
              </a:r>
              <a:endParaRPr lang="en-US" dirty="0"/>
            </a:p>
          </p:txBody>
        </p:sp>
        <p:sp>
          <p:nvSpPr>
            <p:cNvPr id="81" name="Text 5">
              <a:extLst>
                <a:ext uri="{FF2B5EF4-FFF2-40B4-BE49-F238E27FC236}">
                  <a16:creationId xmlns:a16="http://schemas.microsoft.com/office/drawing/2014/main" id="{90309B18-4247-A38D-AF64-D2A8B7289027}"/>
                </a:ext>
              </a:extLst>
            </p:cNvPr>
            <p:cNvSpPr/>
            <p:nvPr/>
          </p:nvSpPr>
          <p:spPr>
            <a:xfrm>
              <a:off x="1874518" y="2268628"/>
              <a:ext cx="3752113" cy="3657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7A7666"/>
                  </a:solidFill>
                  <a:latin typeface="Proxima Nova" pitchFamily="34" charset="0"/>
                  <a:ea typeface="Proxima Nova" pitchFamily="34" charset="-122"/>
                  <a:cs typeface="Proxima Nova" pitchFamily="34" charset="-120"/>
                </a:rPr>
                <a:t>Mask2Former + Swin-Tiny backbone</a:t>
              </a:r>
              <a:endParaRPr lang="en-US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A8AB8F9-76B7-5415-917F-9F923A8A590B}"/>
              </a:ext>
            </a:extLst>
          </p:cNvPr>
          <p:cNvGrpSpPr/>
          <p:nvPr/>
        </p:nvGrpSpPr>
        <p:grpSpPr>
          <a:xfrm>
            <a:off x="6166567" y="5494858"/>
            <a:ext cx="5294574" cy="1173684"/>
            <a:chOff x="822961" y="1737360"/>
            <a:chExt cx="5156159" cy="1143000"/>
          </a:xfrm>
        </p:grpSpPr>
        <p:sp>
          <p:nvSpPr>
            <p:cNvPr id="84" name="Shape 1">
              <a:extLst>
                <a:ext uri="{FF2B5EF4-FFF2-40B4-BE49-F238E27FC236}">
                  <a16:creationId xmlns:a16="http://schemas.microsoft.com/office/drawing/2014/main" id="{C8FEBAF5-3474-36F3-756D-87D13FE048E9}"/>
                </a:ext>
              </a:extLst>
            </p:cNvPr>
            <p:cNvSpPr/>
            <p:nvPr/>
          </p:nvSpPr>
          <p:spPr>
            <a:xfrm>
              <a:off x="822961" y="1737360"/>
              <a:ext cx="5156159" cy="11430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85" name="Shape 2">
              <a:extLst>
                <a:ext uri="{FF2B5EF4-FFF2-40B4-BE49-F238E27FC236}">
                  <a16:creationId xmlns:a16="http://schemas.microsoft.com/office/drawing/2014/main" id="{89D73FDB-F980-2E0A-A5EE-C3BE92E56F56}"/>
                </a:ext>
              </a:extLst>
            </p:cNvPr>
            <p:cNvSpPr/>
            <p:nvPr/>
          </p:nvSpPr>
          <p:spPr>
            <a:xfrm>
              <a:off x="1097280" y="2011680"/>
              <a:ext cx="594360" cy="594360"/>
            </a:xfrm>
            <a:prstGeom prst="ellipse">
              <a:avLst/>
            </a:prstGeom>
            <a:solidFill>
              <a:srgbClr val="6B8E4E"/>
            </a:solidFill>
            <a:ln/>
            <a:effectLst>
              <a:outerShdw blurRad="63500" dist="25400" dir="54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87" name="Text 4">
              <a:extLst>
                <a:ext uri="{FF2B5EF4-FFF2-40B4-BE49-F238E27FC236}">
                  <a16:creationId xmlns:a16="http://schemas.microsoft.com/office/drawing/2014/main" id="{BD064B30-F782-2A86-9928-46F16C71E704}"/>
                </a:ext>
              </a:extLst>
            </p:cNvPr>
            <p:cNvSpPr/>
            <p:nvPr/>
          </p:nvSpPr>
          <p:spPr>
            <a:xfrm>
              <a:off x="1874520" y="1975104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2E3A2B"/>
                  </a:solidFill>
                  <a:latin typeface="Proxima Nova" pitchFamily="34" charset="0"/>
                  <a:ea typeface="Proxima Nova" pitchFamily="34" charset="-122"/>
                  <a:cs typeface="Proxima Nova" pitchFamily="34" charset="-120"/>
                </a:rPr>
                <a:t>Controlled Comparison</a:t>
              </a:r>
              <a:endParaRPr lang="en-US" dirty="0"/>
            </a:p>
          </p:txBody>
        </p:sp>
        <p:sp>
          <p:nvSpPr>
            <p:cNvPr id="88" name="Text 5">
              <a:extLst>
                <a:ext uri="{FF2B5EF4-FFF2-40B4-BE49-F238E27FC236}">
                  <a16:creationId xmlns:a16="http://schemas.microsoft.com/office/drawing/2014/main" id="{ACD6FBFF-584D-2D62-BFE1-AC0EE509C9A3}"/>
                </a:ext>
              </a:extLst>
            </p:cNvPr>
            <p:cNvSpPr/>
            <p:nvPr/>
          </p:nvSpPr>
          <p:spPr>
            <a:xfrm>
              <a:off x="1874518" y="2268628"/>
              <a:ext cx="3920185" cy="3657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7A7666"/>
                  </a:solidFill>
                  <a:latin typeface="Proxima Nova" pitchFamily="34" charset="0"/>
                  <a:ea typeface="Proxima Nova" pitchFamily="34" charset="-122"/>
                  <a:cs typeface="Proxima Nova" pitchFamily="34" charset="-120"/>
                </a:rPr>
                <a:t>Only the patch-embedding stage differs</a:t>
              </a:r>
              <a:endParaRPr lang="en-US" dirty="0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B3FDBC3F-C98F-DA4C-C7EE-C0ABC3870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226" y="5776541"/>
            <a:ext cx="610317" cy="6103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8E7F231-C7A6-D63D-F946-789F5FF79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1080" y="5799372"/>
            <a:ext cx="564653" cy="56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5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613E1-99BF-4DCB-BF46-BB2A3948F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5BC4ADD7-4192-39CA-C370-DB85C9BCB625}"/>
              </a:ext>
            </a:extLst>
          </p:cNvPr>
          <p:cNvSpPr/>
          <p:nvPr/>
        </p:nvSpPr>
        <p:spPr>
          <a:xfrm>
            <a:off x="6309360" y="2483224"/>
            <a:ext cx="5212080" cy="247425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ACB23908-FC40-136F-BE27-9D59B16863AB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RGB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Baseline (no depth)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A8E3B9-B486-40DC-9E92-0265C6C1502D}"/>
              </a:ext>
            </a:extLst>
          </p:cNvPr>
          <p:cNvGrpSpPr/>
          <p:nvPr/>
        </p:nvGrpSpPr>
        <p:grpSpPr>
          <a:xfrm>
            <a:off x="640081" y="1959832"/>
            <a:ext cx="5029200" cy="3761296"/>
            <a:chOff x="1219200" y="4320540"/>
            <a:chExt cx="5212080" cy="2651760"/>
          </a:xfrm>
        </p:grpSpPr>
        <p:sp>
          <p:nvSpPr>
            <p:cNvPr id="13" name="Shape 1">
              <a:extLst>
                <a:ext uri="{FF2B5EF4-FFF2-40B4-BE49-F238E27FC236}">
                  <a16:creationId xmlns:a16="http://schemas.microsoft.com/office/drawing/2014/main" id="{0CF1DC66-61EF-A6EA-2150-FC28752345C3}"/>
                </a:ext>
              </a:extLst>
            </p:cNvPr>
            <p:cNvSpPr/>
            <p:nvPr/>
          </p:nvSpPr>
          <p:spPr>
            <a:xfrm>
              <a:off x="2065019" y="4320540"/>
              <a:ext cx="822960" cy="502920"/>
            </a:xfrm>
            <a:prstGeom prst="rect">
              <a:avLst/>
            </a:prstGeom>
            <a:solidFill>
              <a:srgbClr val="FF6B6B"/>
            </a:solidFill>
            <a:ln w="1905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 2">
              <a:extLst>
                <a:ext uri="{FF2B5EF4-FFF2-40B4-BE49-F238E27FC236}">
                  <a16:creationId xmlns:a16="http://schemas.microsoft.com/office/drawing/2014/main" id="{73D1B66C-A655-002A-A199-F95F048A3AD7}"/>
                </a:ext>
              </a:extLst>
            </p:cNvPr>
            <p:cNvSpPr/>
            <p:nvPr/>
          </p:nvSpPr>
          <p:spPr>
            <a:xfrm>
              <a:off x="2065019" y="4320540"/>
              <a:ext cx="8229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solidFill>
                    <a:srgbClr val="2D3436"/>
                  </a:solidFill>
                </a:rPr>
                <a:t>R</a:t>
              </a:r>
              <a:endParaRPr lang="en-US" dirty="0"/>
            </a:p>
          </p:txBody>
        </p:sp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9175D6DF-004F-1351-3FA1-48DAC6E96584}"/>
                </a:ext>
              </a:extLst>
            </p:cNvPr>
            <p:cNvSpPr/>
            <p:nvPr/>
          </p:nvSpPr>
          <p:spPr>
            <a:xfrm>
              <a:off x="2476500" y="4823460"/>
              <a:ext cx="0" cy="32004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CE6EA3DC-9479-8EBF-5408-408940044EC7}"/>
                </a:ext>
              </a:extLst>
            </p:cNvPr>
            <p:cNvSpPr/>
            <p:nvPr/>
          </p:nvSpPr>
          <p:spPr>
            <a:xfrm>
              <a:off x="3345180" y="4320540"/>
              <a:ext cx="822960" cy="502920"/>
            </a:xfrm>
            <a:prstGeom prst="rect">
              <a:avLst/>
            </a:prstGeom>
            <a:solidFill>
              <a:srgbClr val="6BCB77"/>
            </a:solidFill>
            <a:ln w="1905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50A7B84A-6A3A-2414-10D4-FCC53603756C}"/>
                </a:ext>
              </a:extLst>
            </p:cNvPr>
            <p:cNvSpPr/>
            <p:nvPr/>
          </p:nvSpPr>
          <p:spPr>
            <a:xfrm>
              <a:off x="3345180" y="4320540"/>
              <a:ext cx="8229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solidFill>
                    <a:srgbClr val="2D3436"/>
                  </a:solidFill>
                </a:rPr>
                <a:t>G</a:t>
              </a:r>
              <a:endParaRPr lang="en-US" dirty="0"/>
            </a:p>
          </p:txBody>
        </p:sp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E9772DA3-395E-A428-9484-4BBB285C4D01}"/>
                </a:ext>
              </a:extLst>
            </p:cNvPr>
            <p:cNvSpPr/>
            <p:nvPr/>
          </p:nvSpPr>
          <p:spPr>
            <a:xfrm>
              <a:off x="3756660" y="4823460"/>
              <a:ext cx="0" cy="32004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Shape 7">
              <a:extLst>
                <a:ext uri="{FF2B5EF4-FFF2-40B4-BE49-F238E27FC236}">
                  <a16:creationId xmlns:a16="http://schemas.microsoft.com/office/drawing/2014/main" id="{2657B56B-9190-14DC-97DE-5F1817177D34}"/>
                </a:ext>
              </a:extLst>
            </p:cNvPr>
            <p:cNvSpPr/>
            <p:nvPr/>
          </p:nvSpPr>
          <p:spPr>
            <a:xfrm>
              <a:off x="4625340" y="4320540"/>
              <a:ext cx="822960" cy="502920"/>
            </a:xfrm>
            <a:prstGeom prst="rect">
              <a:avLst/>
            </a:prstGeom>
            <a:solidFill>
              <a:srgbClr val="4D96FF"/>
            </a:solidFill>
            <a:ln w="1905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F76D9EC7-BD3E-A662-5439-A4C428D87B7E}"/>
                </a:ext>
              </a:extLst>
            </p:cNvPr>
            <p:cNvSpPr/>
            <p:nvPr/>
          </p:nvSpPr>
          <p:spPr>
            <a:xfrm>
              <a:off x="4625340" y="4320540"/>
              <a:ext cx="8229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solidFill>
                    <a:srgbClr val="2D3436"/>
                  </a:solidFill>
                </a:rPr>
                <a:t>B</a:t>
              </a:r>
              <a:endParaRPr lang="en-US" dirty="0"/>
            </a:p>
          </p:txBody>
        </p:sp>
        <p:sp>
          <p:nvSpPr>
            <p:cNvPr id="21" name="Shape 9">
              <a:extLst>
                <a:ext uri="{FF2B5EF4-FFF2-40B4-BE49-F238E27FC236}">
                  <a16:creationId xmlns:a16="http://schemas.microsoft.com/office/drawing/2014/main" id="{E58EB664-4719-3BA4-EDFC-1E9E8037ECDF}"/>
                </a:ext>
              </a:extLst>
            </p:cNvPr>
            <p:cNvSpPr/>
            <p:nvPr/>
          </p:nvSpPr>
          <p:spPr>
            <a:xfrm>
              <a:off x="5036819" y="4823460"/>
              <a:ext cx="0" cy="32004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Shape 13">
              <a:extLst>
                <a:ext uri="{FF2B5EF4-FFF2-40B4-BE49-F238E27FC236}">
                  <a16:creationId xmlns:a16="http://schemas.microsoft.com/office/drawing/2014/main" id="{D35EB1FE-E78D-A7A3-F1F9-75ECED06A468}"/>
                </a:ext>
              </a:extLst>
            </p:cNvPr>
            <p:cNvSpPr/>
            <p:nvPr/>
          </p:nvSpPr>
          <p:spPr>
            <a:xfrm>
              <a:off x="1219200" y="5143500"/>
              <a:ext cx="5212080" cy="685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 14">
              <a:extLst>
                <a:ext uri="{FF2B5EF4-FFF2-40B4-BE49-F238E27FC236}">
                  <a16:creationId xmlns:a16="http://schemas.microsoft.com/office/drawing/2014/main" id="{FD00C963-FFA8-2F62-EDF1-3D914B8C208B}"/>
                </a:ext>
              </a:extLst>
            </p:cNvPr>
            <p:cNvSpPr/>
            <p:nvPr/>
          </p:nvSpPr>
          <p:spPr>
            <a:xfrm>
              <a:off x="1219200" y="5143500"/>
              <a:ext cx="52120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dirty="0">
                  <a:solidFill>
                    <a:srgbClr val="2D3436"/>
                  </a:solidFill>
                </a:rPr>
                <a:t>Patch Embedding  (</a:t>
              </a:r>
              <a:r>
                <a:rPr lang="en-US" sz="1600" dirty="0" err="1">
                  <a:solidFill>
                    <a:srgbClr val="2D3436"/>
                  </a:solidFill>
                </a:rPr>
                <a:t>X</a:t>
              </a:r>
              <a:r>
                <a:rPr lang="en-US" sz="1600" baseline="-25000" dirty="0" err="1">
                  <a:solidFill>
                    <a:srgbClr val="2D3436"/>
                  </a:solidFill>
                </a:rPr>
                <a:t>rgb</a:t>
              </a:r>
              <a:r>
                <a:rPr lang="en-US" sz="1600" dirty="0">
                  <a:solidFill>
                    <a:srgbClr val="2D3436"/>
                  </a:solidFill>
                </a:rPr>
                <a:t>)</a:t>
              </a:r>
              <a:endParaRPr lang="en-US" sz="1600" dirty="0"/>
            </a:p>
          </p:txBody>
        </p:sp>
        <p:sp>
          <p:nvSpPr>
            <p:cNvPr id="27" name="Shape 15">
              <a:extLst>
                <a:ext uri="{FF2B5EF4-FFF2-40B4-BE49-F238E27FC236}">
                  <a16:creationId xmlns:a16="http://schemas.microsoft.com/office/drawing/2014/main" id="{138BDCC6-7E27-DE2E-254C-4C579CD5CAB8}"/>
                </a:ext>
              </a:extLst>
            </p:cNvPr>
            <p:cNvSpPr/>
            <p:nvPr/>
          </p:nvSpPr>
          <p:spPr>
            <a:xfrm>
              <a:off x="1905000" y="5829300"/>
              <a:ext cx="0" cy="36576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AB2EFEA6-916F-0F20-3033-5E5E76157A10}"/>
                </a:ext>
              </a:extLst>
            </p:cNvPr>
            <p:cNvSpPr/>
            <p:nvPr/>
          </p:nvSpPr>
          <p:spPr>
            <a:xfrm>
              <a:off x="3185160" y="5829300"/>
              <a:ext cx="0" cy="36576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09573880-D93B-D68D-2E94-8D69BEE70555}"/>
                </a:ext>
              </a:extLst>
            </p:cNvPr>
            <p:cNvSpPr/>
            <p:nvPr/>
          </p:nvSpPr>
          <p:spPr>
            <a:xfrm>
              <a:off x="4465320" y="5829300"/>
              <a:ext cx="0" cy="36576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Shape 18">
              <a:extLst>
                <a:ext uri="{FF2B5EF4-FFF2-40B4-BE49-F238E27FC236}">
                  <a16:creationId xmlns:a16="http://schemas.microsoft.com/office/drawing/2014/main" id="{A6BE2B23-DD72-B8B1-D03E-9E9C8DF8617C}"/>
                </a:ext>
              </a:extLst>
            </p:cNvPr>
            <p:cNvSpPr/>
            <p:nvPr/>
          </p:nvSpPr>
          <p:spPr>
            <a:xfrm>
              <a:off x="5745480" y="5829300"/>
              <a:ext cx="0" cy="36576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Shape 19">
              <a:extLst>
                <a:ext uri="{FF2B5EF4-FFF2-40B4-BE49-F238E27FC236}">
                  <a16:creationId xmlns:a16="http://schemas.microsoft.com/office/drawing/2014/main" id="{71033BDE-19AE-AC97-E6A1-EC277BEB9E0F}"/>
                </a:ext>
              </a:extLst>
            </p:cNvPr>
            <p:cNvSpPr/>
            <p:nvPr/>
          </p:nvSpPr>
          <p:spPr>
            <a:xfrm>
              <a:off x="1219200" y="6195060"/>
              <a:ext cx="5212080" cy="777240"/>
            </a:xfrm>
            <a:prstGeom prst="rect">
              <a:avLst/>
            </a:prstGeom>
            <a:solidFill>
              <a:srgbClr val="DFE6E9"/>
            </a:solidFill>
            <a:ln w="2540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 20">
              <a:extLst>
                <a:ext uri="{FF2B5EF4-FFF2-40B4-BE49-F238E27FC236}">
                  <a16:creationId xmlns:a16="http://schemas.microsoft.com/office/drawing/2014/main" id="{52B688F6-5636-EA67-6860-2D2CBBED1CA2}"/>
                </a:ext>
              </a:extLst>
            </p:cNvPr>
            <p:cNvSpPr/>
            <p:nvPr/>
          </p:nvSpPr>
          <p:spPr>
            <a:xfrm>
              <a:off x="1219200" y="6195060"/>
              <a:ext cx="521208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dirty="0">
                  <a:solidFill>
                    <a:srgbClr val="2D3436"/>
                  </a:solidFill>
                </a:rPr>
                <a:t>Instance Segmentation Model</a:t>
              </a:r>
              <a:endParaRPr lang="en-US" sz="1600" dirty="0"/>
            </a:p>
          </p:txBody>
        </p:sp>
      </p:grpSp>
      <p:sp>
        <p:nvSpPr>
          <p:cNvPr id="43" name="Text 1">
            <a:extLst>
              <a:ext uri="{FF2B5EF4-FFF2-40B4-BE49-F238E27FC236}">
                <a16:creationId xmlns:a16="http://schemas.microsoft.com/office/drawing/2014/main" id="{0FCB996C-F27F-BDA6-5A4E-1AC2D3E26B25}"/>
              </a:ext>
            </a:extLst>
          </p:cNvPr>
          <p:cNvSpPr/>
          <p:nvPr/>
        </p:nvSpPr>
        <p:spPr>
          <a:xfrm>
            <a:off x="6309360" y="1691640"/>
            <a:ext cx="5029198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>
              <a:spcAft>
                <a:spcPts val="1200"/>
              </a:spcAft>
              <a:buSzPct val="100000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Standard 3-channel input</a:t>
            </a:r>
          </a:p>
          <a:p>
            <a:pPr lvl="1">
              <a:spcAft>
                <a:spcPts val="1200"/>
              </a:spcAft>
              <a:buSzPct val="100000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No modifications</a:t>
            </a:r>
          </a:p>
          <a:p>
            <a:pPr lvl="1">
              <a:spcAft>
                <a:spcPts val="1200"/>
              </a:spcAft>
              <a:buSzPct val="100000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Carries no depth</a:t>
            </a:r>
          </a:p>
        </p:txBody>
      </p:sp>
    </p:spTree>
    <p:extLst>
      <p:ext uri="{BB962C8B-B14F-4D97-AF65-F5344CB8AC3E}">
        <p14:creationId xmlns:p14="http://schemas.microsoft.com/office/powerpoint/2010/main" val="215803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4DA11-0D3C-A121-EC18-EF58CA7A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26B9E67C-E694-11BB-5B4B-E79B0531753B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RGB-D (Early)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Input-level Fusion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BFAB4A-2954-442F-354D-2A5B2510D9F2}"/>
              </a:ext>
            </a:extLst>
          </p:cNvPr>
          <p:cNvGrpSpPr/>
          <p:nvPr/>
        </p:nvGrpSpPr>
        <p:grpSpPr>
          <a:xfrm>
            <a:off x="640080" y="1959832"/>
            <a:ext cx="4922520" cy="3761296"/>
            <a:chOff x="1219200" y="4320540"/>
            <a:chExt cx="5212080" cy="2651760"/>
          </a:xfrm>
        </p:grpSpPr>
        <p:sp>
          <p:nvSpPr>
            <p:cNvPr id="13" name="Shape 1">
              <a:extLst>
                <a:ext uri="{FF2B5EF4-FFF2-40B4-BE49-F238E27FC236}">
                  <a16:creationId xmlns:a16="http://schemas.microsoft.com/office/drawing/2014/main" id="{622DA7D5-86A5-E5E8-6FE9-DDF9CCE449A0}"/>
                </a:ext>
              </a:extLst>
            </p:cNvPr>
            <p:cNvSpPr/>
            <p:nvPr/>
          </p:nvSpPr>
          <p:spPr>
            <a:xfrm>
              <a:off x="1493520" y="4320540"/>
              <a:ext cx="822960" cy="502920"/>
            </a:xfrm>
            <a:prstGeom prst="rect">
              <a:avLst/>
            </a:prstGeom>
            <a:solidFill>
              <a:srgbClr val="FF6B6B"/>
            </a:solidFill>
            <a:ln w="1905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 2">
              <a:extLst>
                <a:ext uri="{FF2B5EF4-FFF2-40B4-BE49-F238E27FC236}">
                  <a16:creationId xmlns:a16="http://schemas.microsoft.com/office/drawing/2014/main" id="{D3D28BC7-4D88-F171-E855-674136B13653}"/>
                </a:ext>
              </a:extLst>
            </p:cNvPr>
            <p:cNvSpPr/>
            <p:nvPr/>
          </p:nvSpPr>
          <p:spPr>
            <a:xfrm>
              <a:off x="1493520" y="4320540"/>
              <a:ext cx="8229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solidFill>
                    <a:srgbClr val="2D3436"/>
                  </a:solidFill>
                </a:rPr>
                <a:t>R</a:t>
              </a:r>
              <a:endParaRPr lang="en-US" dirty="0"/>
            </a:p>
          </p:txBody>
        </p:sp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288D6199-DB39-2AE9-DC72-78AB26DCEAFC}"/>
                </a:ext>
              </a:extLst>
            </p:cNvPr>
            <p:cNvSpPr/>
            <p:nvPr/>
          </p:nvSpPr>
          <p:spPr>
            <a:xfrm>
              <a:off x="1905000" y="4823460"/>
              <a:ext cx="0" cy="32004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5B412E1E-9854-211C-DE29-8BD06667329B}"/>
                </a:ext>
              </a:extLst>
            </p:cNvPr>
            <p:cNvSpPr/>
            <p:nvPr/>
          </p:nvSpPr>
          <p:spPr>
            <a:xfrm>
              <a:off x="2773680" y="4320540"/>
              <a:ext cx="822960" cy="502920"/>
            </a:xfrm>
            <a:prstGeom prst="rect">
              <a:avLst/>
            </a:prstGeom>
            <a:solidFill>
              <a:srgbClr val="6BCB77"/>
            </a:solidFill>
            <a:ln w="1905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958B5167-85E8-C9EB-D608-5AB32816F7FD}"/>
                </a:ext>
              </a:extLst>
            </p:cNvPr>
            <p:cNvSpPr/>
            <p:nvPr/>
          </p:nvSpPr>
          <p:spPr>
            <a:xfrm>
              <a:off x="2773680" y="4320540"/>
              <a:ext cx="8229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solidFill>
                    <a:srgbClr val="2D3436"/>
                  </a:solidFill>
                </a:rPr>
                <a:t>G</a:t>
              </a:r>
              <a:endParaRPr lang="en-US" dirty="0"/>
            </a:p>
          </p:txBody>
        </p:sp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629EA1BD-DCFA-7E50-A676-D506FEDA179A}"/>
                </a:ext>
              </a:extLst>
            </p:cNvPr>
            <p:cNvSpPr/>
            <p:nvPr/>
          </p:nvSpPr>
          <p:spPr>
            <a:xfrm>
              <a:off x="3185160" y="4823460"/>
              <a:ext cx="0" cy="32004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Shape 7">
              <a:extLst>
                <a:ext uri="{FF2B5EF4-FFF2-40B4-BE49-F238E27FC236}">
                  <a16:creationId xmlns:a16="http://schemas.microsoft.com/office/drawing/2014/main" id="{FA736A5E-5470-08C3-8805-0BC701ED8947}"/>
                </a:ext>
              </a:extLst>
            </p:cNvPr>
            <p:cNvSpPr/>
            <p:nvPr/>
          </p:nvSpPr>
          <p:spPr>
            <a:xfrm>
              <a:off x="4053840" y="4320540"/>
              <a:ext cx="822960" cy="502920"/>
            </a:xfrm>
            <a:prstGeom prst="rect">
              <a:avLst/>
            </a:prstGeom>
            <a:solidFill>
              <a:srgbClr val="4D96FF"/>
            </a:solidFill>
            <a:ln w="1905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4B4270DE-2E93-BC95-E0DE-0C775A9390E4}"/>
                </a:ext>
              </a:extLst>
            </p:cNvPr>
            <p:cNvSpPr/>
            <p:nvPr/>
          </p:nvSpPr>
          <p:spPr>
            <a:xfrm>
              <a:off x="4053840" y="4320540"/>
              <a:ext cx="8229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solidFill>
                    <a:srgbClr val="2D3436"/>
                  </a:solidFill>
                </a:rPr>
                <a:t>B</a:t>
              </a:r>
              <a:endParaRPr lang="en-US" dirty="0"/>
            </a:p>
          </p:txBody>
        </p:sp>
        <p:sp>
          <p:nvSpPr>
            <p:cNvPr id="21" name="Shape 9">
              <a:extLst>
                <a:ext uri="{FF2B5EF4-FFF2-40B4-BE49-F238E27FC236}">
                  <a16:creationId xmlns:a16="http://schemas.microsoft.com/office/drawing/2014/main" id="{ECB046A4-289D-AAE7-DBFA-B13B3F05DB00}"/>
                </a:ext>
              </a:extLst>
            </p:cNvPr>
            <p:cNvSpPr/>
            <p:nvPr/>
          </p:nvSpPr>
          <p:spPr>
            <a:xfrm>
              <a:off x="4465320" y="4823460"/>
              <a:ext cx="0" cy="32004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Shape 10">
              <a:extLst>
                <a:ext uri="{FF2B5EF4-FFF2-40B4-BE49-F238E27FC236}">
                  <a16:creationId xmlns:a16="http://schemas.microsoft.com/office/drawing/2014/main" id="{D8A0A8B7-F3CD-F2A7-E7DD-8B077D035E23}"/>
                </a:ext>
              </a:extLst>
            </p:cNvPr>
            <p:cNvSpPr/>
            <p:nvPr/>
          </p:nvSpPr>
          <p:spPr>
            <a:xfrm>
              <a:off x="5334000" y="4320540"/>
              <a:ext cx="822960" cy="502920"/>
            </a:xfrm>
            <a:prstGeom prst="rect">
              <a:avLst/>
            </a:prstGeom>
            <a:solidFill>
              <a:srgbClr val="A8DADC"/>
            </a:solidFill>
            <a:ln w="1905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DF1F7E96-850C-4110-0598-DEC5A2A84158}"/>
                </a:ext>
              </a:extLst>
            </p:cNvPr>
            <p:cNvSpPr/>
            <p:nvPr/>
          </p:nvSpPr>
          <p:spPr>
            <a:xfrm>
              <a:off x="5334000" y="4320540"/>
              <a:ext cx="8229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solidFill>
                    <a:srgbClr val="2D3436"/>
                  </a:solidFill>
                </a:rPr>
                <a:t>D</a:t>
              </a:r>
              <a:endParaRPr lang="en-US" dirty="0"/>
            </a:p>
          </p:txBody>
        </p:sp>
        <p:sp>
          <p:nvSpPr>
            <p:cNvPr id="24" name="Shape 12">
              <a:extLst>
                <a:ext uri="{FF2B5EF4-FFF2-40B4-BE49-F238E27FC236}">
                  <a16:creationId xmlns:a16="http://schemas.microsoft.com/office/drawing/2014/main" id="{B54A9836-D2CD-86A2-EC4B-FE052F30FE15}"/>
                </a:ext>
              </a:extLst>
            </p:cNvPr>
            <p:cNvSpPr/>
            <p:nvPr/>
          </p:nvSpPr>
          <p:spPr>
            <a:xfrm>
              <a:off x="5745480" y="4823460"/>
              <a:ext cx="0" cy="32004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Shape 13">
              <a:extLst>
                <a:ext uri="{FF2B5EF4-FFF2-40B4-BE49-F238E27FC236}">
                  <a16:creationId xmlns:a16="http://schemas.microsoft.com/office/drawing/2014/main" id="{10057E23-6D81-1EE1-E8DC-7C29F092958E}"/>
                </a:ext>
              </a:extLst>
            </p:cNvPr>
            <p:cNvSpPr/>
            <p:nvPr/>
          </p:nvSpPr>
          <p:spPr>
            <a:xfrm>
              <a:off x="1219200" y="5143500"/>
              <a:ext cx="5212080" cy="685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 14">
              <a:extLst>
                <a:ext uri="{FF2B5EF4-FFF2-40B4-BE49-F238E27FC236}">
                  <a16:creationId xmlns:a16="http://schemas.microsoft.com/office/drawing/2014/main" id="{0891AE88-DF89-D59B-0859-A79AEEB4847B}"/>
                </a:ext>
              </a:extLst>
            </p:cNvPr>
            <p:cNvSpPr/>
            <p:nvPr/>
          </p:nvSpPr>
          <p:spPr>
            <a:xfrm>
              <a:off x="1219200" y="5143500"/>
              <a:ext cx="52120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dirty="0">
                  <a:solidFill>
                    <a:srgbClr val="2D3436"/>
                  </a:solidFill>
                </a:rPr>
                <a:t>Patch Embedding  (X</a:t>
              </a:r>
              <a:r>
                <a:rPr lang="en-US" sz="1600" baseline="-25000" dirty="0">
                  <a:solidFill>
                    <a:srgbClr val="2D3436"/>
                  </a:solidFill>
                </a:rPr>
                <a:t>RGBD</a:t>
              </a:r>
              <a:r>
                <a:rPr lang="en-US" sz="1600" dirty="0">
                  <a:solidFill>
                    <a:srgbClr val="2D3436"/>
                  </a:solidFill>
                </a:rPr>
                <a:t>)</a:t>
              </a:r>
              <a:endParaRPr lang="en-US" sz="1600" dirty="0"/>
            </a:p>
          </p:txBody>
        </p:sp>
        <p:sp>
          <p:nvSpPr>
            <p:cNvPr id="27" name="Shape 15">
              <a:extLst>
                <a:ext uri="{FF2B5EF4-FFF2-40B4-BE49-F238E27FC236}">
                  <a16:creationId xmlns:a16="http://schemas.microsoft.com/office/drawing/2014/main" id="{E216066F-429D-EEB8-7D44-4E35A482DABA}"/>
                </a:ext>
              </a:extLst>
            </p:cNvPr>
            <p:cNvSpPr/>
            <p:nvPr/>
          </p:nvSpPr>
          <p:spPr>
            <a:xfrm>
              <a:off x="1905000" y="5829300"/>
              <a:ext cx="0" cy="36576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C178213B-6DF0-4316-B721-252FC5013F3E}"/>
                </a:ext>
              </a:extLst>
            </p:cNvPr>
            <p:cNvSpPr/>
            <p:nvPr/>
          </p:nvSpPr>
          <p:spPr>
            <a:xfrm>
              <a:off x="3185160" y="5829300"/>
              <a:ext cx="0" cy="36576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06C2E704-CD03-3D10-B261-678A34C832F7}"/>
                </a:ext>
              </a:extLst>
            </p:cNvPr>
            <p:cNvSpPr/>
            <p:nvPr/>
          </p:nvSpPr>
          <p:spPr>
            <a:xfrm>
              <a:off x="4465320" y="5829300"/>
              <a:ext cx="0" cy="36576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Shape 18">
              <a:extLst>
                <a:ext uri="{FF2B5EF4-FFF2-40B4-BE49-F238E27FC236}">
                  <a16:creationId xmlns:a16="http://schemas.microsoft.com/office/drawing/2014/main" id="{022EDCE4-9A01-ADFD-0F8C-8B4217C58612}"/>
                </a:ext>
              </a:extLst>
            </p:cNvPr>
            <p:cNvSpPr/>
            <p:nvPr/>
          </p:nvSpPr>
          <p:spPr>
            <a:xfrm>
              <a:off x="5745480" y="5829300"/>
              <a:ext cx="0" cy="36576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Shape 19">
              <a:extLst>
                <a:ext uri="{FF2B5EF4-FFF2-40B4-BE49-F238E27FC236}">
                  <a16:creationId xmlns:a16="http://schemas.microsoft.com/office/drawing/2014/main" id="{1FABD04C-974A-D54A-B443-8F2B93D2DD4A}"/>
                </a:ext>
              </a:extLst>
            </p:cNvPr>
            <p:cNvSpPr/>
            <p:nvPr/>
          </p:nvSpPr>
          <p:spPr>
            <a:xfrm>
              <a:off x="1219200" y="6195060"/>
              <a:ext cx="5212080" cy="777240"/>
            </a:xfrm>
            <a:prstGeom prst="rect">
              <a:avLst/>
            </a:prstGeom>
            <a:solidFill>
              <a:srgbClr val="DFE6E9"/>
            </a:solidFill>
            <a:ln w="2540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 20">
              <a:extLst>
                <a:ext uri="{FF2B5EF4-FFF2-40B4-BE49-F238E27FC236}">
                  <a16:creationId xmlns:a16="http://schemas.microsoft.com/office/drawing/2014/main" id="{959756E7-4486-3A53-2360-9584AFC9498C}"/>
                </a:ext>
              </a:extLst>
            </p:cNvPr>
            <p:cNvSpPr/>
            <p:nvPr/>
          </p:nvSpPr>
          <p:spPr>
            <a:xfrm>
              <a:off x="1219200" y="6195060"/>
              <a:ext cx="521208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dirty="0">
                  <a:solidFill>
                    <a:srgbClr val="2D3436"/>
                  </a:solidFill>
                </a:rPr>
                <a:t>Instance Segmentation Model</a:t>
              </a:r>
              <a:endParaRPr lang="en-US" sz="1600" dirty="0"/>
            </a:p>
          </p:txBody>
        </p:sp>
      </p:grpSp>
      <p:sp>
        <p:nvSpPr>
          <p:cNvPr id="12" name="Shape 7">
            <a:extLst>
              <a:ext uri="{FF2B5EF4-FFF2-40B4-BE49-F238E27FC236}">
                <a16:creationId xmlns:a16="http://schemas.microsoft.com/office/drawing/2014/main" id="{26105DA7-5111-BDA8-B240-233E4F615C2A}"/>
              </a:ext>
            </a:extLst>
          </p:cNvPr>
          <p:cNvSpPr/>
          <p:nvPr/>
        </p:nvSpPr>
        <p:spPr>
          <a:xfrm>
            <a:off x="6309360" y="1691640"/>
            <a:ext cx="5029200" cy="2817607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D1987EB2-2267-8E5B-7AFC-BB316794E130}"/>
              </a:ext>
            </a:extLst>
          </p:cNvPr>
          <p:cNvSpPr/>
          <p:nvPr/>
        </p:nvSpPr>
        <p:spPr>
          <a:xfrm>
            <a:off x="6568440" y="1959832"/>
            <a:ext cx="4613366" cy="3910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Depth concatenated to RGB</a:t>
            </a:r>
          </a:p>
          <a:p>
            <a:pPr>
              <a:spcAft>
                <a:spcPts val="1200"/>
              </a:spcAft>
              <a:buSzPct val="100000"/>
            </a:pPr>
            <a: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First convolution layer widened (3 -&gt; 4)</a:t>
            </a:r>
          </a:p>
          <a:p>
            <a:pPr>
              <a:spcAft>
                <a:spcPts val="1200"/>
              </a:spcAft>
              <a:buSzPct val="100000"/>
            </a:pPr>
            <a: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Problem: RGB and depth are different signals</a:t>
            </a:r>
          </a:p>
        </p:txBody>
      </p:sp>
    </p:spTree>
    <p:extLst>
      <p:ext uri="{BB962C8B-B14F-4D97-AF65-F5344CB8AC3E}">
        <p14:creationId xmlns:p14="http://schemas.microsoft.com/office/powerpoint/2010/main" val="60771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7B9B5-8327-6B0D-6FE2-7A2480947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7">
            <a:extLst>
              <a:ext uri="{FF2B5EF4-FFF2-40B4-BE49-F238E27FC236}">
                <a16:creationId xmlns:a16="http://schemas.microsoft.com/office/drawing/2014/main" id="{7CC744A4-1738-F07D-CF26-E41DC3D8D742}"/>
              </a:ext>
            </a:extLst>
          </p:cNvPr>
          <p:cNvSpPr/>
          <p:nvPr/>
        </p:nvSpPr>
        <p:spPr>
          <a:xfrm>
            <a:off x="5908586" y="1691640"/>
            <a:ext cx="5945849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99949B6A-0BD4-D717-D8E2-2E56A762EA4A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RGB-D (Cross-Attention)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Attention-based Fusion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B0C0C7-CB84-57B0-DC1D-57341D645E27}"/>
              </a:ext>
            </a:extLst>
          </p:cNvPr>
          <p:cNvGrpSpPr/>
          <p:nvPr/>
        </p:nvGrpSpPr>
        <p:grpSpPr>
          <a:xfrm>
            <a:off x="499305" y="1987550"/>
            <a:ext cx="4997706" cy="3610610"/>
            <a:chOff x="1050846" y="3924300"/>
            <a:chExt cx="7772400" cy="3886200"/>
          </a:xfrm>
        </p:grpSpPr>
        <p:sp>
          <p:nvSpPr>
            <p:cNvPr id="34" name="Shape 1">
              <a:extLst>
                <a:ext uri="{FF2B5EF4-FFF2-40B4-BE49-F238E27FC236}">
                  <a16:creationId xmlns:a16="http://schemas.microsoft.com/office/drawing/2014/main" id="{647FD91C-F0BB-A5B0-8EB0-BA5C12373810}"/>
                </a:ext>
              </a:extLst>
            </p:cNvPr>
            <p:cNvSpPr/>
            <p:nvPr/>
          </p:nvSpPr>
          <p:spPr>
            <a:xfrm>
              <a:off x="1233726" y="3924300"/>
              <a:ext cx="822960" cy="502920"/>
            </a:xfrm>
            <a:prstGeom prst="rect">
              <a:avLst/>
            </a:prstGeom>
            <a:solidFill>
              <a:srgbClr val="FF6B6B"/>
            </a:solidFill>
            <a:ln w="1905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Text 2">
              <a:extLst>
                <a:ext uri="{FF2B5EF4-FFF2-40B4-BE49-F238E27FC236}">
                  <a16:creationId xmlns:a16="http://schemas.microsoft.com/office/drawing/2014/main" id="{7BCB16D3-8578-39DC-1128-C7D988B4A066}"/>
                </a:ext>
              </a:extLst>
            </p:cNvPr>
            <p:cNvSpPr/>
            <p:nvPr/>
          </p:nvSpPr>
          <p:spPr>
            <a:xfrm>
              <a:off x="1233726" y="3924300"/>
              <a:ext cx="8229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solidFill>
                    <a:srgbClr val="2D3436"/>
                  </a:solidFill>
                </a:rPr>
                <a:t>R</a:t>
              </a:r>
              <a:endParaRPr lang="en-US" dirty="0"/>
            </a:p>
          </p:txBody>
        </p:sp>
        <p:sp>
          <p:nvSpPr>
            <p:cNvPr id="36" name="Shape 3">
              <a:extLst>
                <a:ext uri="{FF2B5EF4-FFF2-40B4-BE49-F238E27FC236}">
                  <a16:creationId xmlns:a16="http://schemas.microsoft.com/office/drawing/2014/main" id="{B605FDD2-3E29-7F3E-4400-7904CDD82644}"/>
                </a:ext>
              </a:extLst>
            </p:cNvPr>
            <p:cNvSpPr/>
            <p:nvPr/>
          </p:nvSpPr>
          <p:spPr>
            <a:xfrm>
              <a:off x="1645206" y="4427220"/>
              <a:ext cx="0" cy="32004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37" name="Shape 4">
              <a:extLst>
                <a:ext uri="{FF2B5EF4-FFF2-40B4-BE49-F238E27FC236}">
                  <a16:creationId xmlns:a16="http://schemas.microsoft.com/office/drawing/2014/main" id="{E0D24DB8-0C2B-3D49-A520-199C719228A2}"/>
                </a:ext>
              </a:extLst>
            </p:cNvPr>
            <p:cNvSpPr/>
            <p:nvPr/>
          </p:nvSpPr>
          <p:spPr>
            <a:xfrm>
              <a:off x="2331006" y="3924300"/>
              <a:ext cx="822960" cy="502920"/>
            </a:xfrm>
            <a:prstGeom prst="rect">
              <a:avLst/>
            </a:prstGeom>
            <a:solidFill>
              <a:srgbClr val="6BCB77"/>
            </a:solidFill>
            <a:ln w="1905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 5">
              <a:extLst>
                <a:ext uri="{FF2B5EF4-FFF2-40B4-BE49-F238E27FC236}">
                  <a16:creationId xmlns:a16="http://schemas.microsoft.com/office/drawing/2014/main" id="{CA881FB6-AD9F-4DEF-6EC1-3B626FE0BFAB}"/>
                </a:ext>
              </a:extLst>
            </p:cNvPr>
            <p:cNvSpPr/>
            <p:nvPr/>
          </p:nvSpPr>
          <p:spPr>
            <a:xfrm>
              <a:off x="2331006" y="3924300"/>
              <a:ext cx="8229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solidFill>
                    <a:srgbClr val="2D3436"/>
                  </a:solidFill>
                </a:rPr>
                <a:t>G</a:t>
              </a:r>
              <a:endParaRPr lang="en-US" dirty="0"/>
            </a:p>
          </p:txBody>
        </p:sp>
        <p:sp>
          <p:nvSpPr>
            <p:cNvPr id="39" name="Shape 6">
              <a:extLst>
                <a:ext uri="{FF2B5EF4-FFF2-40B4-BE49-F238E27FC236}">
                  <a16:creationId xmlns:a16="http://schemas.microsoft.com/office/drawing/2014/main" id="{8843FEC6-91EC-F715-2491-06D1AEDF9DC1}"/>
                </a:ext>
              </a:extLst>
            </p:cNvPr>
            <p:cNvSpPr/>
            <p:nvPr/>
          </p:nvSpPr>
          <p:spPr>
            <a:xfrm>
              <a:off x="2742486" y="4427220"/>
              <a:ext cx="0" cy="32004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A9520B83-F11C-B4A6-99AA-7FE14B9C4E3B}"/>
                </a:ext>
              </a:extLst>
            </p:cNvPr>
            <p:cNvSpPr/>
            <p:nvPr/>
          </p:nvSpPr>
          <p:spPr>
            <a:xfrm>
              <a:off x="3428286" y="3924300"/>
              <a:ext cx="822960" cy="502920"/>
            </a:xfrm>
            <a:prstGeom prst="rect">
              <a:avLst/>
            </a:prstGeom>
            <a:solidFill>
              <a:srgbClr val="4D96FF"/>
            </a:solidFill>
            <a:ln w="1905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 8">
              <a:extLst>
                <a:ext uri="{FF2B5EF4-FFF2-40B4-BE49-F238E27FC236}">
                  <a16:creationId xmlns:a16="http://schemas.microsoft.com/office/drawing/2014/main" id="{10D2810D-4F66-F7CA-1DCB-94C2E1CD9036}"/>
                </a:ext>
              </a:extLst>
            </p:cNvPr>
            <p:cNvSpPr/>
            <p:nvPr/>
          </p:nvSpPr>
          <p:spPr>
            <a:xfrm>
              <a:off x="3428286" y="3924300"/>
              <a:ext cx="8229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solidFill>
                    <a:srgbClr val="2D3436"/>
                  </a:solidFill>
                </a:rPr>
                <a:t>B</a:t>
              </a:r>
              <a:endParaRPr lang="en-US" dirty="0"/>
            </a:p>
          </p:txBody>
        </p:sp>
        <p:sp>
          <p:nvSpPr>
            <p:cNvPr id="42" name="Shape 9">
              <a:extLst>
                <a:ext uri="{FF2B5EF4-FFF2-40B4-BE49-F238E27FC236}">
                  <a16:creationId xmlns:a16="http://schemas.microsoft.com/office/drawing/2014/main" id="{A0E2E6EF-5345-5C31-0C42-E27F6DEFD85A}"/>
                </a:ext>
              </a:extLst>
            </p:cNvPr>
            <p:cNvSpPr/>
            <p:nvPr/>
          </p:nvSpPr>
          <p:spPr>
            <a:xfrm>
              <a:off x="3839766" y="4427220"/>
              <a:ext cx="0" cy="32004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Shape 10">
              <a:extLst>
                <a:ext uri="{FF2B5EF4-FFF2-40B4-BE49-F238E27FC236}">
                  <a16:creationId xmlns:a16="http://schemas.microsoft.com/office/drawing/2014/main" id="{006BC5EE-5874-EABC-CC34-1FDD8A44651C}"/>
                </a:ext>
              </a:extLst>
            </p:cNvPr>
            <p:cNvSpPr/>
            <p:nvPr/>
          </p:nvSpPr>
          <p:spPr>
            <a:xfrm>
              <a:off x="7177326" y="3924300"/>
              <a:ext cx="822960" cy="502920"/>
            </a:xfrm>
            <a:prstGeom prst="rect">
              <a:avLst/>
            </a:prstGeom>
            <a:solidFill>
              <a:srgbClr val="A8DADC"/>
            </a:solidFill>
            <a:ln w="1905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Text 11">
              <a:extLst>
                <a:ext uri="{FF2B5EF4-FFF2-40B4-BE49-F238E27FC236}">
                  <a16:creationId xmlns:a16="http://schemas.microsoft.com/office/drawing/2014/main" id="{02B9CE51-80BB-8DB6-35FB-2CC2755195E8}"/>
                </a:ext>
              </a:extLst>
            </p:cNvPr>
            <p:cNvSpPr/>
            <p:nvPr/>
          </p:nvSpPr>
          <p:spPr>
            <a:xfrm>
              <a:off x="7177326" y="3924300"/>
              <a:ext cx="8229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b="1" dirty="0">
                  <a:solidFill>
                    <a:srgbClr val="2D3436"/>
                  </a:solidFill>
                </a:rPr>
                <a:t>D</a:t>
              </a:r>
              <a:endParaRPr lang="en-US" dirty="0"/>
            </a:p>
          </p:txBody>
        </p:sp>
        <p:sp>
          <p:nvSpPr>
            <p:cNvPr id="45" name="Shape 12">
              <a:extLst>
                <a:ext uri="{FF2B5EF4-FFF2-40B4-BE49-F238E27FC236}">
                  <a16:creationId xmlns:a16="http://schemas.microsoft.com/office/drawing/2014/main" id="{3447816C-255B-3117-5446-DE7EAB219E0C}"/>
                </a:ext>
              </a:extLst>
            </p:cNvPr>
            <p:cNvSpPr/>
            <p:nvPr/>
          </p:nvSpPr>
          <p:spPr>
            <a:xfrm>
              <a:off x="7588806" y="4427220"/>
              <a:ext cx="0" cy="32004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Shape 13">
              <a:extLst>
                <a:ext uri="{FF2B5EF4-FFF2-40B4-BE49-F238E27FC236}">
                  <a16:creationId xmlns:a16="http://schemas.microsoft.com/office/drawing/2014/main" id="{A6436377-34E7-29D1-3587-6633A52F3295}"/>
                </a:ext>
              </a:extLst>
            </p:cNvPr>
            <p:cNvSpPr/>
            <p:nvPr/>
          </p:nvSpPr>
          <p:spPr>
            <a:xfrm>
              <a:off x="1050846" y="4747260"/>
              <a:ext cx="3566160" cy="7315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Text 14">
              <a:extLst>
                <a:ext uri="{FF2B5EF4-FFF2-40B4-BE49-F238E27FC236}">
                  <a16:creationId xmlns:a16="http://schemas.microsoft.com/office/drawing/2014/main" id="{F309B8BE-2FC2-CDD1-8C7A-A4AF9062288B}"/>
                </a:ext>
              </a:extLst>
            </p:cNvPr>
            <p:cNvSpPr/>
            <p:nvPr/>
          </p:nvSpPr>
          <p:spPr>
            <a:xfrm>
              <a:off x="1050846" y="4747260"/>
              <a:ext cx="356616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dirty="0">
                  <a:solidFill>
                    <a:srgbClr val="2D3436"/>
                  </a:solidFill>
                </a:rPr>
                <a:t>Patch Embedding</a:t>
              </a:r>
              <a:endParaRPr lang="en-US" sz="1400" dirty="0"/>
            </a:p>
            <a:p>
              <a:pPr algn="ctr"/>
              <a:r>
                <a:rPr lang="en-US" sz="1400" i="1" dirty="0">
                  <a:solidFill>
                    <a:srgbClr val="2D3436"/>
                  </a:solidFill>
                </a:rPr>
                <a:t>(X</a:t>
              </a:r>
              <a:r>
                <a:rPr lang="en-US" sz="1400" i="1" baseline="-25000" dirty="0">
                  <a:solidFill>
                    <a:srgbClr val="2D3436"/>
                  </a:solidFill>
                </a:rPr>
                <a:t>I</a:t>
              </a:r>
              <a:r>
                <a:rPr lang="en-US" sz="1400" i="1" dirty="0">
                  <a:solidFill>
                    <a:srgbClr val="2D3436"/>
                  </a:solidFill>
                </a:rPr>
                <a:t>)</a:t>
              </a:r>
              <a:endParaRPr lang="en-US" sz="1400" dirty="0"/>
            </a:p>
          </p:txBody>
        </p:sp>
        <p:sp>
          <p:nvSpPr>
            <p:cNvPr id="48" name="Shape 15">
              <a:extLst>
                <a:ext uri="{FF2B5EF4-FFF2-40B4-BE49-F238E27FC236}">
                  <a16:creationId xmlns:a16="http://schemas.microsoft.com/office/drawing/2014/main" id="{09218632-800F-08E9-4A66-2D917A267CB0}"/>
                </a:ext>
              </a:extLst>
            </p:cNvPr>
            <p:cNvSpPr/>
            <p:nvPr/>
          </p:nvSpPr>
          <p:spPr>
            <a:xfrm>
              <a:off x="6811566" y="4747260"/>
              <a:ext cx="1645920" cy="731520"/>
            </a:xfrm>
            <a:prstGeom prst="rect">
              <a:avLst/>
            </a:prstGeom>
            <a:solidFill>
              <a:srgbClr val="E8D5B7"/>
            </a:solidFill>
            <a:ln w="2540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 16">
              <a:extLst>
                <a:ext uri="{FF2B5EF4-FFF2-40B4-BE49-F238E27FC236}">
                  <a16:creationId xmlns:a16="http://schemas.microsoft.com/office/drawing/2014/main" id="{1D379AB4-CFA3-0914-B234-5E8912B86C48}"/>
                </a:ext>
              </a:extLst>
            </p:cNvPr>
            <p:cNvSpPr/>
            <p:nvPr/>
          </p:nvSpPr>
          <p:spPr>
            <a:xfrm>
              <a:off x="6811566" y="4747260"/>
              <a:ext cx="16459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dirty="0">
                  <a:solidFill>
                    <a:srgbClr val="2D3436"/>
                  </a:solidFill>
                </a:rPr>
                <a:t>Patch Embedding</a:t>
              </a:r>
              <a:endParaRPr lang="en-US" sz="1400" dirty="0"/>
            </a:p>
            <a:p>
              <a:pPr algn="ctr"/>
              <a:r>
                <a:rPr lang="en-US" sz="1400" i="1" dirty="0">
                  <a:solidFill>
                    <a:srgbClr val="2D3436"/>
                  </a:solidFill>
                </a:rPr>
                <a:t>(X</a:t>
              </a:r>
              <a:r>
                <a:rPr lang="en-US" sz="1400" i="1" baseline="-25000" dirty="0">
                  <a:solidFill>
                    <a:srgbClr val="2D3436"/>
                  </a:solidFill>
                </a:rPr>
                <a:t>D</a:t>
              </a:r>
              <a:r>
                <a:rPr lang="en-US" sz="1400" i="1" dirty="0">
                  <a:solidFill>
                    <a:srgbClr val="2D3436"/>
                  </a:solidFill>
                </a:rPr>
                <a:t>)</a:t>
              </a:r>
              <a:endParaRPr lang="en-US" sz="1400" dirty="0"/>
            </a:p>
          </p:txBody>
        </p:sp>
        <p:sp>
          <p:nvSpPr>
            <p:cNvPr id="50" name="Shape 17">
              <a:extLst>
                <a:ext uri="{FF2B5EF4-FFF2-40B4-BE49-F238E27FC236}">
                  <a16:creationId xmlns:a16="http://schemas.microsoft.com/office/drawing/2014/main" id="{44FC3846-7BD5-2A5D-2C90-916E60F9938E}"/>
                </a:ext>
              </a:extLst>
            </p:cNvPr>
            <p:cNvSpPr/>
            <p:nvPr/>
          </p:nvSpPr>
          <p:spPr>
            <a:xfrm>
              <a:off x="2833926" y="5478780"/>
              <a:ext cx="0" cy="41148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Shape 18">
              <a:extLst>
                <a:ext uri="{FF2B5EF4-FFF2-40B4-BE49-F238E27FC236}">
                  <a16:creationId xmlns:a16="http://schemas.microsoft.com/office/drawing/2014/main" id="{9DEDA6A6-7CA6-14AC-7AAD-08DE5638D2A2}"/>
                </a:ext>
              </a:extLst>
            </p:cNvPr>
            <p:cNvSpPr/>
            <p:nvPr/>
          </p:nvSpPr>
          <p:spPr>
            <a:xfrm>
              <a:off x="7634526" y="5478780"/>
              <a:ext cx="0" cy="41148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Shape 19">
              <a:extLst>
                <a:ext uri="{FF2B5EF4-FFF2-40B4-BE49-F238E27FC236}">
                  <a16:creationId xmlns:a16="http://schemas.microsoft.com/office/drawing/2014/main" id="{42D55B5D-AC1F-719E-0E08-5EA07B0D0797}"/>
                </a:ext>
              </a:extLst>
            </p:cNvPr>
            <p:cNvSpPr/>
            <p:nvPr/>
          </p:nvSpPr>
          <p:spPr>
            <a:xfrm>
              <a:off x="1050846" y="5890260"/>
              <a:ext cx="7772400" cy="777240"/>
            </a:xfrm>
            <a:prstGeom prst="rect">
              <a:avLst/>
            </a:prstGeom>
            <a:solidFill>
              <a:srgbClr val="FFF3B0"/>
            </a:solidFill>
            <a:ln w="2540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Text 20">
              <a:extLst>
                <a:ext uri="{FF2B5EF4-FFF2-40B4-BE49-F238E27FC236}">
                  <a16:creationId xmlns:a16="http://schemas.microsoft.com/office/drawing/2014/main" id="{DB67D2AA-42E3-8DA5-B5A8-8EE9E9F43BE3}"/>
                </a:ext>
              </a:extLst>
            </p:cNvPr>
            <p:cNvSpPr/>
            <p:nvPr/>
          </p:nvSpPr>
          <p:spPr>
            <a:xfrm>
              <a:off x="1050846" y="5890260"/>
              <a:ext cx="77724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700" b="1" dirty="0">
                  <a:solidFill>
                    <a:srgbClr val="2D3436"/>
                  </a:solidFill>
                </a:rPr>
                <a:t>Cross-Modal Attention</a:t>
              </a:r>
              <a:endParaRPr lang="en-US" sz="1700" dirty="0"/>
            </a:p>
          </p:txBody>
        </p:sp>
        <p:sp>
          <p:nvSpPr>
            <p:cNvPr id="54" name="Shape 21">
              <a:extLst>
                <a:ext uri="{FF2B5EF4-FFF2-40B4-BE49-F238E27FC236}">
                  <a16:creationId xmlns:a16="http://schemas.microsoft.com/office/drawing/2014/main" id="{54921AB4-8E99-256E-0B01-3E2E5B13CF0F}"/>
                </a:ext>
              </a:extLst>
            </p:cNvPr>
            <p:cNvSpPr/>
            <p:nvPr/>
          </p:nvSpPr>
          <p:spPr>
            <a:xfrm>
              <a:off x="4937046" y="6667500"/>
              <a:ext cx="0" cy="365760"/>
            </a:xfrm>
            <a:prstGeom prst="line">
              <a:avLst/>
            </a:prstGeom>
            <a:noFill/>
            <a:ln w="19050">
              <a:solidFill>
                <a:srgbClr val="2D3436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Shape 22">
              <a:extLst>
                <a:ext uri="{FF2B5EF4-FFF2-40B4-BE49-F238E27FC236}">
                  <a16:creationId xmlns:a16="http://schemas.microsoft.com/office/drawing/2014/main" id="{2D382B9D-CCF6-AB15-1234-97EB4D3CE224}"/>
                </a:ext>
              </a:extLst>
            </p:cNvPr>
            <p:cNvSpPr/>
            <p:nvPr/>
          </p:nvSpPr>
          <p:spPr>
            <a:xfrm>
              <a:off x="1050846" y="7033260"/>
              <a:ext cx="7772400" cy="777240"/>
            </a:xfrm>
            <a:prstGeom prst="rect">
              <a:avLst/>
            </a:prstGeom>
            <a:solidFill>
              <a:srgbClr val="DFE6E9"/>
            </a:solidFill>
            <a:ln w="25400">
              <a:solidFill>
                <a:srgbClr val="2D343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31FBF50C-0ED9-6F8D-83BF-848A6FC7ADF8}"/>
                </a:ext>
              </a:extLst>
            </p:cNvPr>
            <p:cNvSpPr/>
            <p:nvPr/>
          </p:nvSpPr>
          <p:spPr>
            <a:xfrm>
              <a:off x="1050846" y="7033260"/>
              <a:ext cx="77724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dirty="0">
                  <a:solidFill>
                    <a:srgbClr val="2D3436"/>
                  </a:solidFill>
                </a:rPr>
                <a:t>Instance Segmentation Model</a:t>
              </a:r>
              <a:endParaRPr lang="en-US" sz="16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">
                <a:extLst>
                  <a:ext uri="{FF2B5EF4-FFF2-40B4-BE49-F238E27FC236}">
                    <a16:creationId xmlns:a16="http://schemas.microsoft.com/office/drawing/2014/main" id="{E3E6A2C5-D6FA-131E-B017-C57FC82A0389}"/>
                  </a:ext>
                </a:extLst>
              </p:cNvPr>
              <p:cNvSpPr/>
              <p:nvPr/>
            </p:nvSpPr>
            <p:spPr>
              <a:xfrm>
                <a:off x="6011605" y="2328194"/>
                <a:ext cx="5994937" cy="2971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1600" i="0" dirty="0" smtClean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Let</m:t>
                      </m:r>
                      <m:r>
                        <m:rPr>
                          <m:nor/>
                        </m:rPr>
                        <a:rPr lang="en-AU" sz="1600" i="0" dirty="0" smtClean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AU" sz="1600" i="1" dirty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𝑆</m:t>
                      </m:r>
                      <m:d>
                        <m:dPr>
                          <m:ctrlPr>
                            <a:rPr lang="en-AU" sz="1600" i="1" dirty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AU" sz="1600" i="1" dirty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⋅</m:t>
                          </m:r>
                        </m:e>
                      </m:d>
                      <m:r>
                        <a:rPr lang="en-AU" sz="1600" i="1" dirty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AU" sz="1600" i="0" dirty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softmax</m:t>
                      </m:r>
                      <m:r>
                        <a:rPr lang="en-AU" sz="1600" i="1" dirty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​</m:t>
                      </m:r>
                      <m:d>
                        <m:dPr>
                          <m:ctrlPr>
                            <a:rPr lang="en-AU" sz="1600" i="1" dirty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1600" i="1" dirty="0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Pr>
                            <m:num>
                              <m:r>
                                <a:rPr lang="en-AU" sz="1600" i="1" dirty="0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⋅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AU" sz="1600" i="1" dirty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AU" sz="1600" i="1" dirty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𝐶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m:rPr>
                          <m:nor/>
                        </m:rPr>
                        <a:rPr lang="en-AU" sz="1600" i="0" dirty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1600" i="0" dirty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row</m:t>
                      </m:r>
                      <m:r>
                        <m:rPr>
                          <m:nor/>
                        </m:rPr>
                        <a:rPr lang="en-AU" sz="1600" i="0" dirty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AU" sz="1600" i="0" dirty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wise</m:t>
                      </m:r>
                    </m:oMath>
                  </m:oMathPara>
                </a14:m>
                <a:endParaRPr lang="en-AU" sz="1600" i="0" dirty="0">
                  <a:solidFill>
                    <a:srgbClr val="2E3A2B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sz="1600" i="1" smtClean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1600" b="0" i="1" smtClean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bSup>
                      <m:r>
                        <a:rPr lang="en-AU" sz="1600" i="1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1600" b="0" i="1" smtClean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AU" sz="1600" i="1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1600" i="1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1600" b="0" i="1" smtClean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1600" b="0" i="1" smtClean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AU" sz="1600" i="0" dirty="0">
                  <a:solidFill>
                    <a:srgbClr val="2E3A2B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sz="1600" dirty="0">
                    <a:solidFill>
                      <a:srgbClr val="2E3A2B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AU" sz="1600" i="1" smtClean="0">
                        <a:solidFill>
                          <a:srgbClr val="2E3A2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AU" sz="1600" i="1" smtClean="0">
                        <a:solidFill>
                          <a:srgbClr val="2E3A2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=1,2,…,</m:t>
                    </m:r>
                    <m:r>
                      <a:rPr lang="en-AU" sz="1600" i="1" smtClean="0">
                        <a:solidFill>
                          <a:srgbClr val="2E3A2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AU" sz="1600" dirty="0">
                    <a:solidFill>
                      <a:srgbClr val="2E3A2B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Segoe UI" panose="020B0502040204020203" pitchFamily="34" charset="0"/>
                  </a:rPr>
                  <a:t>: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sz="1600" i="1" smtClean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AU" sz="1600" i="1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bSup>
                      <m:r>
                        <a:rPr lang="en-AU" sz="1600" i="1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1600" i="1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𝐼𝑞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  <m:sSubSup>
                                <m:sSubSupPr>
                                  <m:ctrlP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1600" b="0" i="1" smtClean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  <m:sSup>
                            <m:sSup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𝐼𝑘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AU" sz="1600" i="1">
                                              <a:solidFill>
                                                <a:srgbClr val="2E3A2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1600" i="1">
                                              <a:solidFill>
                                                <a:srgbClr val="2E3A2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AU" sz="1600" b="0" i="1" smtClean="0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AU" sz="1600" i="1">
                                              <a:solidFill>
                                                <a:srgbClr val="2E3A2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1600" i="1">
                                              <a:solidFill>
                                                <a:srgbClr val="2E3A2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AU" sz="1600" i="1">
                                              <a:solidFill>
                                                <a:srgbClr val="2E3A2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sSubSup>
                        <m:sSubSup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𝐷𝑣</m:t>
                          </m:r>
                        </m:sub>
                        <m:sup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AU" sz="1600" i="0" dirty="0">
                  <a:solidFill>
                    <a:srgbClr val="2E3A2B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sz="1600" i="1" smtClean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1600" b="0" i="1" smtClean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AU" sz="1600" i="1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1600" b="0" i="1" smtClean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bSup>
                      <m:r>
                        <a:rPr lang="en-AU" sz="1600" i="1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1600" i="1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𝐷𝑞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  <m:sSubSup>
                                <m:sSubSupPr>
                                  <m:ctrlP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  <m:sSup>
                            <m:sSup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U" sz="1600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𝐷𝑘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AU" sz="1600" i="1">
                                              <a:solidFill>
                                                <a:srgbClr val="2E3A2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1600" i="1">
                                              <a:solidFill>
                                                <a:srgbClr val="2E3A2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AU" sz="1600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AU" sz="1600" i="1">
                                              <a:solidFill>
                                                <a:srgbClr val="2E3A2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1600" i="1">
                                              <a:solidFill>
                                                <a:srgbClr val="2E3A2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  <m:sSubSup>
                        <m:sSubSup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𝐼𝑣</m:t>
                          </m:r>
                        </m:sub>
                        <m:sup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1600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1600" b="0" i="1" smtClean="0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d>
                            <m:dPr>
                              <m:ctrlP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AU" sz="1600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AU" sz="1600" i="0" dirty="0">
                  <a:solidFill>
                    <a:srgbClr val="2E3A2B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13" name="Text 1">
                <a:extLst>
                  <a:ext uri="{FF2B5EF4-FFF2-40B4-BE49-F238E27FC236}">
                    <a16:creationId xmlns:a16="http://schemas.microsoft.com/office/drawing/2014/main" id="{E3E6A2C5-D6FA-131E-B017-C57FC82A03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605" y="2328194"/>
                <a:ext cx="5994937" cy="2971800"/>
              </a:xfrm>
              <a:prstGeom prst="rect">
                <a:avLst/>
              </a:prstGeom>
              <a:blipFill>
                <a:blip r:embed="rId3"/>
                <a:stretch>
                  <a:fillRect l="-63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8">
            <a:extLst>
              <a:ext uri="{FF2B5EF4-FFF2-40B4-BE49-F238E27FC236}">
                <a16:creationId xmlns:a16="http://schemas.microsoft.com/office/drawing/2014/main" id="{647FC482-18C4-8BDC-CC09-9AC9F4850102}"/>
              </a:ext>
            </a:extLst>
          </p:cNvPr>
          <p:cNvSpPr/>
          <p:nvPr/>
        </p:nvSpPr>
        <p:spPr>
          <a:xfrm>
            <a:off x="6133691" y="18059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C8492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Cross-modal Attention: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076507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79558D-DD6B-DC2E-392A-F27EA03D4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FB2E1C67-4A38-9FEF-6D5D-088A9E62B3BA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METRICS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16DBD0-471E-1B0A-DD78-DF2B448A80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2" r="31556"/>
          <a:stretch>
            <a:fillRect/>
          </a:stretch>
        </p:blipFill>
        <p:spPr>
          <a:xfrm>
            <a:off x="3918707" y="3335409"/>
            <a:ext cx="3156178" cy="31278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E9AE79-BF18-20BE-AA4B-A42DB32C6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85" y="3689950"/>
            <a:ext cx="3156178" cy="2418753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2BD92C9A-C671-5BF2-3AD6-C84DE821710B}"/>
              </a:ext>
            </a:extLst>
          </p:cNvPr>
          <p:cNvSpPr/>
          <p:nvPr/>
        </p:nvSpPr>
        <p:spPr>
          <a:xfrm>
            <a:off x="640079" y="1458686"/>
            <a:ext cx="10771779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AU" sz="2000" b="1" dirty="0">
                <a:latin typeface="Proxima Nova" panose="02000506030000020004" pitchFamily="2" charset="0"/>
              </a:rPr>
              <a:t>Intersection over Union (</a:t>
            </a:r>
            <a:r>
              <a:rPr lang="en-AU" sz="2000" b="1" dirty="0" err="1">
                <a:latin typeface="Proxima Nova" panose="02000506030000020004" pitchFamily="2" charset="0"/>
              </a:rPr>
              <a:t>IoU</a:t>
            </a:r>
            <a:r>
              <a:rPr lang="en-AU" sz="2000" b="1" dirty="0">
                <a:latin typeface="Proxima Nova" panose="02000506030000020004" pitchFamily="2" charset="0"/>
              </a:rPr>
              <a:t>)</a:t>
            </a:r>
            <a:br>
              <a:rPr lang="en-AU" sz="2000" dirty="0">
                <a:latin typeface="Proxima Nova" panose="02000506030000020004" pitchFamily="2" charset="0"/>
              </a:rPr>
            </a:br>
            <a:r>
              <a:rPr lang="en-AU" sz="2000" dirty="0">
                <a:latin typeface="Proxima Nova" panose="02000506030000020004" pitchFamily="2" charset="0"/>
              </a:rPr>
              <a:t>Measures how closely a predicted mask overlaps the ground-truth mask.</a:t>
            </a:r>
            <a:endParaRPr lang="en-AU" sz="2000" b="1" dirty="0">
              <a:latin typeface="Proxima Nova" panose="02000506030000020004" pitchFamily="2" charset="0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en-AU" sz="2000" b="1" dirty="0">
                <a:latin typeface="Proxima Nova" panose="02000506030000020004" pitchFamily="2" charset="0"/>
              </a:rPr>
              <a:t>Average Precision (AP)</a:t>
            </a:r>
            <a:br>
              <a:rPr lang="en-AU" sz="2000" dirty="0">
                <a:latin typeface="Proxima Nova" panose="02000506030000020004" pitchFamily="2" charset="0"/>
              </a:rPr>
            </a:br>
            <a:r>
              <a:rPr lang="en-AU" sz="2000" dirty="0">
                <a:latin typeface="Proxima Nova" panose="02000506030000020004" pitchFamily="2" charset="0"/>
              </a:rPr>
              <a:t>Area under precision-recall curve at a given </a:t>
            </a:r>
            <a:r>
              <a:rPr lang="en-AU" sz="2000" dirty="0" err="1">
                <a:latin typeface="Proxima Nova" panose="02000506030000020004" pitchFamily="2" charset="0"/>
              </a:rPr>
              <a:t>IoU</a:t>
            </a:r>
            <a:r>
              <a:rPr lang="en-AU" sz="2000" dirty="0">
                <a:latin typeface="Proxima Nova" panose="02000506030000020004" pitchFamily="2" charset="0"/>
              </a:rPr>
              <a:t> threshold</a:t>
            </a:r>
          </a:p>
        </p:txBody>
      </p:sp>
      <p:graphicFrame>
        <p:nvGraphicFramePr>
          <p:cNvPr id="17" name="Table 21">
            <a:extLst>
              <a:ext uri="{FF2B5EF4-FFF2-40B4-BE49-F238E27FC236}">
                <a16:creationId xmlns:a16="http://schemas.microsoft.com/office/drawing/2014/main" id="{1031B462-A42D-3B1A-BB37-420FFE3CF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214535"/>
              </p:ext>
            </p:extLst>
          </p:nvPr>
        </p:nvGraphicFramePr>
        <p:xfrm>
          <a:off x="7402329" y="3335409"/>
          <a:ext cx="4336973" cy="3124200"/>
        </p:xfrm>
        <a:graphic>
          <a:graphicData uri="http://schemas.openxmlformats.org/drawingml/2006/table">
            <a:tbl>
              <a:tblPr firstRow="1" bandRow="1"/>
              <a:tblGrid>
                <a:gridCol w="1438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8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IoU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 Threshold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[0.50, 0.95] step size 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AP50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AP75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AP (green)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[0.50, 0.95] step size 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algn="l" defTabSz="914446" rtl="0" eaLnBrk="1" latinLnBrk="0" hangingPunct="1"/>
                      <a:r>
                        <a:rPr lang="en-US" sz="1800" b="1" kern="12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AP (red)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[0.50, 0.95] step size 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574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333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2C27A-DAFC-2263-69CA-5F53DC390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93AFC075-33CF-B5AD-3325-47157B1C6E8F}"/>
              </a:ext>
            </a:extLst>
          </p:cNvPr>
          <p:cNvSpPr/>
          <p:nvPr/>
        </p:nvSpPr>
        <p:spPr>
          <a:xfrm>
            <a:off x="650523" y="56321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DATASET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Rob2Pheno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51C9D6-D318-74C3-42AD-C95847191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" t="10975" r="51470" b="49240"/>
          <a:stretch>
            <a:fillRect/>
          </a:stretch>
        </p:blipFill>
        <p:spPr>
          <a:xfrm>
            <a:off x="60960" y="1704041"/>
            <a:ext cx="3985145" cy="2287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B29049-72ED-33A2-CAA2-9BA2F98D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2" t="10975" r="1060" b="49240"/>
          <a:stretch>
            <a:fillRect/>
          </a:stretch>
        </p:blipFill>
        <p:spPr>
          <a:xfrm>
            <a:off x="4103427" y="1704041"/>
            <a:ext cx="3985145" cy="22878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03FFBD-85E2-B9B7-2192-FEF0C4410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" t="59897" r="51048" b="318"/>
          <a:stretch>
            <a:fillRect/>
          </a:stretch>
        </p:blipFill>
        <p:spPr>
          <a:xfrm>
            <a:off x="8145895" y="1704041"/>
            <a:ext cx="3985145" cy="2287838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9648169D-0454-42F9-6BFD-C6D8F0DC56DC}"/>
              </a:ext>
            </a:extLst>
          </p:cNvPr>
          <p:cNvSpPr/>
          <p:nvPr/>
        </p:nvSpPr>
        <p:spPr>
          <a:xfrm>
            <a:off x="165464" y="4893216"/>
            <a:ext cx="6065008" cy="1220201"/>
          </a:xfrm>
          <a:prstGeom prst="rect">
            <a:avLst/>
          </a:prstGeom>
          <a:noFill/>
          <a:ln/>
        </p:spPr>
        <p:txBody>
          <a:bodyPr wrap="square" numCol="1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</a:t>
            </a:r>
            <a: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</a:rPr>
              <a:t>123 images total 720×1280 RGB-D pairs </a:t>
            </a:r>
            <a:b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</a:rPr>
            </a:br>
            <a: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 </a:t>
            </a:r>
            <a:r>
              <a:rPr lang="en-AU" sz="2400" b="1" dirty="0">
                <a:solidFill>
                  <a:srgbClr val="2E3A2B"/>
                </a:solidFill>
                <a:latin typeface="Proxima Nova" panose="02000506030000020004" pitchFamily="2" charset="0"/>
              </a:rPr>
              <a:t>2 classes</a:t>
            </a:r>
            <a: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</a:rPr>
              <a:t>: </a:t>
            </a:r>
            <a:r>
              <a:rPr lang="en-AU" sz="2400" dirty="0" err="1">
                <a:solidFill>
                  <a:srgbClr val="2E3A2B"/>
                </a:solidFill>
                <a:latin typeface="Proxima Nova" panose="02000506030000020004" pitchFamily="2" charset="0"/>
              </a:rPr>
              <a:t>redfruit</a:t>
            </a:r>
            <a: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</a:rPr>
              <a:t> (ripe), </a:t>
            </a:r>
            <a:r>
              <a:rPr lang="en-AU" sz="2400" dirty="0" err="1">
                <a:solidFill>
                  <a:srgbClr val="2E3A2B"/>
                </a:solidFill>
                <a:latin typeface="Proxima Nova" panose="02000506030000020004" pitchFamily="2" charset="0"/>
              </a:rPr>
              <a:t>greenfruit</a:t>
            </a:r>
            <a: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</a:rPr>
              <a:t> (unripe) </a:t>
            </a:r>
            <a:b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</a:rPr>
            </a:br>
            <a: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•</a:t>
            </a:r>
            <a:r>
              <a:rPr lang="en-AU" sz="2400" dirty="0">
                <a:solidFill>
                  <a:srgbClr val="2E3A2B"/>
                </a:solidFill>
                <a:latin typeface="Proxima Nova" panose="02000506030000020004" pitchFamily="2" charset="0"/>
              </a:rPr>
              <a:t> Source: Afonso et al. (2020)</a:t>
            </a:r>
            <a:endParaRPr lang="en-AU" sz="2400" dirty="0">
              <a:solidFill>
                <a:srgbClr val="2E3A2B"/>
              </a:solidFill>
              <a:latin typeface="Proxima Nova" panose="02000506030000020004" pitchFamily="2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AA2209-4878-8B6A-24E5-DB7176CC6EA9}"/>
              </a:ext>
            </a:extLst>
          </p:cNvPr>
          <p:cNvSpPr txBox="1"/>
          <p:nvPr/>
        </p:nvSpPr>
        <p:spPr>
          <a:xfrm>
            <a:off x="1392934" y="3940410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Proxima Nova" panose="02000506030000020004" pitchFamily="2" charset="0"/>
              </a:rPr>
              <a:t>RGB Image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59A716-4BD6-577F-49C7-A83AA9DCD287}"/>
              </a:ext>
            </a:extLst>
          </p:cNvPr>
          <p:cNvSpPr txBox="1"/>
          <p:nvPr/>
        </p:nvSpPr>
        <p:spPr>
          <a:xfrm>
            <a:off x="5409664" y="3934030"/>
            <a:ext cx="1396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Proxima Nova" panose="02000506030000020004" pitchFamily="2" charset="0"/>
              </a:rPr>
              <a:t>Depth Mask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1DEAE3-616A-45FD-1FC8-EB1547C0B775}"/>
              </a:ext>
            </a:extLst>
          </p:cNvPr>
          <p:cNvSpPr txBox="1"/>
          <p:nvPr/>
        </p:nvSpPr>
        <p:spPr>
          <a:xfrm>
            <a:off x="9745591" y="3934030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Proxima Nova" panose="02000506030000020004" pitchFamily="2" charset="0"/>
              </a:rPr>
              <a:t>Annotations</a:t>
            </a:r>
          </a:p>
        </p:txBody>
      </p:sp>
      <p:graphicFrame>
        <p:nvGraphicFramePr>
          <p:cNvPr id="19" name="Table 20">
            <a:extLst>
              <a:ext uri="{FF2B5EF4-FFF2-40B4-BE49-F238E27FC236}">
                <a16:creationId xmlns:a16="http://schemas.microsoft.com/office/drawing/2014/main" id="{8B0C9F4C-0FAA-C8F3-D9B3-8460207B2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160634"/>
              </p:ext>
            </p:extLst>
          </p:nvPr>
        </p:nvGraphicFramePr>
        <p:xfrm>
          <a:off x="6444666" y="4551188"/>
          <a:ext cx="5349240" cy="1904255"/>
        </p:xfrm>
        <a:graphic>
          <a:graphicData uri="http://schemas.openxmlformats.org/drawingml/2006/table">
            <a:tbl>
              <a:tblPr firstRow="1" bandRow="1"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559152237"/>
                    </a:ext>
                  </a:extLst>
                </a:gridCol>
              </a:tblGrid>
              <a:tr h="380851">
                <a:tc>
                  <a:txBody>
                    <a:bodyPr/>
                    <a:lstStyle/>
                    <a:p>
                      <a:pPr algn="l"/>
                      <a:endParaRPr lang="en-US" sz="1800" b="1" dirty="0">
                        <a:solidFill>
                          <a:srgbClr val="FFFFFF"/>
                        </a:solidFill>
                        <a:latin typeface="Proxima Nova" pitchFamily="34" charset="0"/>
                        <a:ea typeface="Proxima Nova" pitchFamily="34" charset="-122"/>
                        <a:cs typeface="Proxima Nova" pitchFamily="34" charset="-12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51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51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Instances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1,074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538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51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- </a:t>
                      </a:r>
                      <a:r>
                        <a:rPr lang="en-US" sz="1800" b="0" dirty="0" err="1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redfruit</a:t>
                      </a:r>
                      <a:endParaRPr lang="en-US" sz="1800" b="0" dirty="0">
                        <a:solidFill>
                          <a:srgbClr val="2E3A2B"/>
                        </a:solidFill>
                        <a:latin typeface="Proxima Nova" pitchFamily="34" charset="0"/>
                        <a:ea typeface="Proxima Nova" pitchFamily="34" charset="-122"/>
                        <a:cs typeface="Proxima Nova" pitchFamily="34" charset="-12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365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176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851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- </a:t>
                      </a:r>
                      <a:r>
                        <a:rPr lang="en-US" sz="1800" b="0" dirty="0" err="1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greenfruit</a:t>
                      </a:r>
                      <a:endParaRPr lang="en-US" sz="1800" b="0" dirty="0">
                        <a:solidFill>
                          <a:srgbClr val="2E3A2B"/>
                        </a:solidFill>
                        <a:latin typeface="Proxima Nova" pitchFamily="34" charset="0"/>
                        <a:ea typeface="Proxima Nova" pitchFamily="34" charset="-122"/>
                        <a:cs typeface="Proxima Nova" pitchFamily="34" charset="-12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709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362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439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60872-8823-107D-4071-1CCD9E972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726F9736-8A58-494B-5468-1DD605D614F8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TRAINING REGIME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graphicFrame>
        <p:nvGraphicFramePr>
          <p:cNvPr id="11" name="Table 20">
            <a:extLst>
              <a:ext uri="{FF2B5EF4-FFF2-40B4-BE49-F238E27FC236}">
                <a16:creationId xmlns:a16="http://schemas.microsoft.com/office/drawing/2014/main" id="{E56F7052-D939-87F1-E06B-7C1F3EAE6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231918"/>
              </p:ext>
            </p:extLst>
          </p:nvPr>
        </p:nvGraphicFramePr>
        <p:xfrm>
          <a:off x="500231" y="1837765"/>
          <a:ext cx="5349240" cy="3124200"/>
        </p:xfrm>
        <a:graphic>
          <a:graphicData uri="http://schemas.openxmlformats.org/drawingml/2006/table">
            <a:tbl>
              <a:tblPr firstRow="1" bandRow="1"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Initialisation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COCO-pretrained weights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Cross-validation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5-fold (fixed seed)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Optimiser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AdamW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LR schedule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Cosine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Depth-path LR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5× (DCA only)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21">
            <a:extLst>
              <a:ext uri="{FF2B5EF4-FFF2-40B4-BE49-F238E27FC236}">
                <a16:creationId xmlns:a16="http://schemas.microsoft.com/office/drawing/2014/main" id="{270D5563-C4F6-4CBF-682F-3E6FED57F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370815"/>
              </p:ext>
            </p:extLst>
          </p:nvPr>
        </p:nvGraphicFramePr>
        <p:xfrm>
          <a:off x="6342529" y="1837765"/>
          <a:ext cx="5349240" cy="2603500"/>
        </p:xfrm>
        <a:graphic>
          <a:graphicData uri="http://schemas.openxmlformats.org/drawingml/2006/table">
            <a:tbl>
              <a:tblPr firstRow="1" bandRow="1"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Setting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Epochs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Batch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Augmentations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Geometric-only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Pre-processing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2E3A2B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Mean-filled invalid depth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627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68F54-29DD-BDC1-CC91-83FDC918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5EE9A77E-9777-0674-7B75-B95E5A537A83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RESULTS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graphicFrame>
        <p:nvGraphicFramePr>
          <p:cNvPr id="12" name="Table 20">
            <a:extLst>
              <a:ext uri="{FF2B5EF4-FFF2-40B4-BE49-F238E27FC236}">
                <a16:creationId xmlns:a16="http://schemas.microsoft.com/office/drawing/2014/main" id="{7D3DA840-ACBD-59C6-16DC-0C9FB35A3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447877"/>
              </p:ext>
            </p:extLst>
          </p:nvPr>
        </p:nvGraphicFramePr>
        <p:xfrm>
          <a:off x="822960" y="2082472"/>
          <a:ext cx="10828266" cy="3249070"/>
        </p:xfrm>
        <a:graphic>
          <a:graphicData uri="http://schemas.openxmlformats.org/drawingml/2006/table">
            <a:tbl>
              <a:tblPr firstRow="1" bandRow="1"/>
              <a:tblGrid>
                <a:gridCol w="2241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721949135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381679171"/>
                    </a:ext>
                  </a:extLst>
                </a:gridCol>
              </a:tblGrid>
              <a:tr h="573365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Variant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AP50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AP75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 (red)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 (green)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70.22 ± 1.84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94.93 ± 0.78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82.55 ± 1.18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70.84 ± 4.46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69.61 ± 2.89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Early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67.37 ± 2.32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93.89 ± 2.33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78.67 ± 3.28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68.63 ± 3.79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66.11 ± 3.75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(K=0)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68.19 ± 2.12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94.15 ± 2.52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79.80 ± 1.66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69.06 ± 3.85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67.33 ± 2.81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(K=1)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67.43 ± 1.31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94.49 ± 1.58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77.95 ± 2.68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68.46 ± 3.42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66.40 ± 2.54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(K=2)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67.48 ± 2.02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93.90 ± 1.35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77.43 ± 1.93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68.02 ± 4.18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66.95 ± 3.68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8DDD6E1-D340-1A96-8CAD-7D37BEB5871E}"/>
              </a:ext>
            </a:extLst>
          </p:cNvPr>
          <p:cNvSpPr txBox="1"/>
          <p:nvPr/>
        </p:nvSpPr>
        <p:spPr>
          <a:xfrm>
            <a:off x="894677" y="1657134"/>
            <a:ext cx="10917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Proxima Nova" panose="02000506030000020004" pitchFamily="2" charset="0"/>
              </a:rPr>
              <a:t>5-fold cross-validation segmentation AP (mean </a:t>
            </a:r>
            <a:r>
              <a:rPr lang="en-US" sz="2000" b="1" dirty="0">
                <a:solidFill>
                  <a:srgbClr val="2E3A2B"/>
                </a:solidFill>
                <a:latin typeface="Proxima Nova" panose="02000506030000020004" pitchFamily="2" charset="0"/>
                <a:ea typeface="Proxima Nova" panose="02000506030000020004"/>
                <a:cs typeface="Proxima Nova" pitchFamily="34" charset="-120"/>
              </a:rPr>
              <a:t>± </a:t>
            </a:r>
            <a:r>
              <a:rPr lang="en-US" sz="2000" b="1" dirty="0">
                <a:latin typeface="Proxima Nova" panose="02000506030000020004" pitchFamily="2" charset="0"/>
              </a:rPr>
              <a:t>std).</a:t>
            </a:r>
          </a:p>
        </p:txBody>
      </p:sp>
    </p:spTree>
    <p:extLst>
      <p:ext uri="{BB962C8B-B14F-4D97-AF65-F5344CB8AC3E}">
        <p14:creationId xmlns:p14="http://schemas.microsoft.com/office/powerpoint/2010/main" val="3598103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F880E-5679-1048-D2EF-2412007D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28636F09-75E3-7BE9-D781-7628F2583534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RESULTS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graphicFrame>
        <p:nvGraphicFramePr>
          <p:cNvPr id="12" name="Table 20">
            <a:extLst>
              <a:ext uri="{FF2B5EF4-FFF2-40B4-BE49-F238E27FC236}">
                <a16:creationId xmlns:a16="http://schemas.microsoft.com/office/drawing/2014/main" id="{76A194CC-BCAE-32FB-5F33-50F30122F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178584"/>
              </p:ext>
            </p:extLst>
          </p:nvPr>
        </p:nvGraphicFramePr>
        <p:xfrm>
          <a:off x="822960" y="2082472"/>
          <a:ext cx="10828266" cy="3249070"/>
        </p:xfrm>
        <a:graphic>
          <a:graphicData uri="http://schemas.openxmlformats.org/drawingml/2006/table">
            <a:tbl>
              <a:tblPr firstRow="1" bandRow="1"/>
              <a:tblGrid>
                <a:gridCol w="2241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721949135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381679171"/>
                    </a:ext>
                  </a:extLst>
                </a:gridCol>
              </a:tblGrid>
              <a:tr h="573365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Variant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AP50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AP75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 (red)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 (green)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70.22 ± 1.84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94.93 ± 0.78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82.55 ± 1.18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70.84 ± 4.46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69.61 ± 2.89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Early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67.37 ± 2.32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93.89 ± 2.33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78.67 ± 3.28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68.63 ± 3.79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66.11 ± 3.75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(K=0)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68.19 ± 2.12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94.15 ± 2.52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79.80 ± 1.66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69.06 ± 3.85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67.33 ± 2.81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(K=1)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67.43 ± 1.31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94.49 ± 1.58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77.95 ± 2.68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68.46 ± 3.42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66.40 ± 2.54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(K=2)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67.48 ± 2.02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93.90 ± 1.35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77.43 ± 1.93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68.02 ± 4.18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66.95 ± 3.68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AF92A3C-83F7-1077-3A1B-4B88B5E8BB54}"/>
              </a:ext>
            </a:extLst>
          </p:cNvPr>
          <p:cNvSpPr txBox="1"/>
          <p:nvPr/>
        </p:nvSpPr>
        <p:spPr>
          <a:xfrm>
            <a:off x="894677" y="5455382"/>
            <a:ext cx="8032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SzPct val="100000"/>
            </a:pPr>
            <a:r>
              <a:rPr lang="en-AU" sz="2400" b="1" dirty="0">
                <a:solidFill>
                  <a:srgbClr val="C8492E"/>
                </a:solidFill>
                <a:latin typeface="Proxima Nova" panose="02000506030000020004" pitchFamily="2" charset="0"/>
              </a:rPr>
              <a:t>Contrary to hypothesis, RGB outperforms all variants.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7C0529-47DC-97C9-CC04-6FCB0912626B}"/>
              </a:ext>
            </a:extLst>
          </p:cNvPr>
          <p:cNvSpPr txBox="1"/>
          <p:nvPr/>
        </p:nvSpPr>
        <p:spPr>
          <a:xfrm>
            <a:off x="894677" y="1657134"/>
            <a:ext cx="10917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E3A2B"/>
                </a:solidFill>
                <a:latin typeface="Proxima Nova" panose="02000506030000020004" pitchFamily="2" charset="0"/>
              </a:rPr>
              <a:t>5-fold cross-validation segmentation AP (mean </a:t>
            </a:r>
            <a:r>
              <a:rPr lang="en-US" sz="2000" b="1" dirty="0">
                <a:solidFill>
                  <a:srgbClr val="2E3A2B"/>
                </a:solidFill>
                <a:latin typeface="Proxima Nova" panose="02000506030000020004" pitchFamily="2" charset="0"/>
                <a:ea typeface="Proxima Nova" panose="02000506030000020004"/>
                <a:cs typeface="Proxima Nova" pitchFamily="34" charset="-120"/>
              </a:rPr>
              <a:t>± </a:t>
            </a:r>
            <a:r>
              <a:rPr lang="en-US" sz="2000" b="1" dirty="0">
                <a:solidFill>
                  <a:srgbClr val="2E3A2B"/>
                </a:solidFill>
                <a:latin typeface="Proxima Nova" panose="02000506030000020004" pitchFamily="2" charset="0"/>
              </a:rPr>
              <a:t>std).</a:t>
            </a:r>
          </a:p>
        </p:txBody>
      </p:sp>
    </p:spTree>
    <p:extLst>
      <p:ext uri="{BB962C8B-B14F-4D97-AF65-F5344CB8AC3E}">
        <p14:creationId xmlns:p14="http://schemas.microsoft.com/office/powerpoint/2010/main" val="2189136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682D7-F597-8AD6-5656-6D68BF2C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C18D5FA3-E104-25ED-79C3-3D4ADD08DDFE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RESULTS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graphicFrame>
        <p:nvGraphicFramePr>
          <p:cNvPr id="12" name="Table 20">
            <a:extLst>
              <a:ext uri="{FF2B5EF4-FFF2-40B4-BE49-F238E27FC236}">
                <a16:creationId xmlns:a16="http://schemas.microsoft.com/office/drawing/2014/main" id="{324EDF95-D210-6BB6-E225-F9197E1FE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977846"/>
              </p:ext>
            </p:extLst>
          </p:nvPr>
        </p:nvGraphicFramePr>
        <p:xfrm>
          <a:off x="822960" y="2082472"/>
          <a:ext cx="10828266" cy="3249070"/>
        </p:xfrm>
        <a:graphic>
          <a:graphicData uri="http://schemas.openxmlformats.org/drawingml/2006/table">
            <a:tbl>
              <a:tblPr firstRow="1" bandRow="1"/>
              <a:tblGrid>
                <a:gridCol w="2241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721949135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381679171"/>
                    </a:ext>
                  </a:extLst>
                </a:gridCol>
              </a:tblGrid>
              <a:tr h="573365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Variant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AP50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AP75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 (red)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 (green)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70.22 ± 1.84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94.93 ± 0.78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82.55 ± 1.18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70.84 ± 4.46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69.61 ± 2.89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Early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67.37 ± 2.32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93.89 ± 2.33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78.67 ± 3.28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68.63 ± 3.79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66.11 ± 3.75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(K=0)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68.19 ± 2.12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94.15 ± 2.52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79.80 ± 1.66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69.06 ± 3.85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67.33 ± 2.81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(K=1)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67.43 ± 1.31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94.49 ± 1.58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77.95 ± 2.68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68.46 ± 3.42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66.40 ± 2.54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(K=2)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67.48 ± 2.02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93.90 ± 1.35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77.43 ± 1.93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68.02 ± 4.18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66.95 ± 3.68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8014B08-89BE-B7F5-2E2E-D103CF0342FA}"/>
              </a:ext>
            </a:extLst>
          </p:cNvPr>
          <p:cNvSpPr txBox="1"/>
          <p:nvPr/>
        </p:nvSpPr>
        <p:spPr>
          <a:xfrm>
            <a:off x="894677" y="5455382"/>
            <a:ext cx="8032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SzPct val="100000"/>
            </a:pPr>
            <a:r>
              <a:rPr lang="en-AU" sz="2400" b="1" dirty="0">
                <a:solidFill>
                  <a:srgbClr val="C8492E"/>
                </a:solidFill>
                <a:latin typeface="Proxima Nova" panose="02000506030000020004" pitchFamily="2" charset="0"/>
              </a:rPr>
              <a:t>At AP50, the variants are effectively tied.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AF2FE3-29E2-5DF0-D50E-CDE1E40A1D62}"/>
              </a:ext>
            </a:extLst>
          </p:cNvPr>
          <p:cNvSpPr txBox="1"/>
          <p:nvPr/>
        </p:nvSpPr>
        <p:spPr>
          <a:xfrm>
            <a:off x="894677" y="1657134"/>
            <a:ext cx="10917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E3A2B"/>
                </a:solidFill>
                <a:latin typeface="Proxima Nova" panose="02000506030000020004" pitchFamily="2" charset="0"/>
              </a:rPr>
              <a:t>5-fold cross-validation segmentation AP (mean </a:t>
            </a:r>
            <a:r>
              <a:rPr lang="en-US" sz="2000" b="1" dirty="0">
                <a:solidFill>
                  <a:srgbClr val="2E3A2B"/>
                </a:solidFill>
                <a:latin typeface="Proxima Nova" panose="02000506030000020004" pitchFamily="2" charset="0"/>
                <a:ea typeface="Proxima Nova" panose="02000506030000020004"/>
                <a:cs typeface="Proxima Nova" pitchFamily="34" charset="-120"/>
              </a:rPr>
              <a:t>± </a:t>
            </a:r>
            <a:r>
              <a:rPr lang="en-US" sz="2000" b="1" dirty="0">
                <a:solidFill>
                  <a:srgbClr val="2E3A2B"/>
                </a:solidFill>
                <a:latin typeface="Proxima Nova" panose="02000506030000020004" pitchFamily="2" charset="0"/>
              </a:rPr>
              <a:t>std).</a:t>
            </a:r>
          </a:p>
        </p:txBody>
      </p:sp>
    </p:spTree>
    <p:extLst>
      <p:ext uri="{BB962C8B-B14F-4D97-AF65-F5344CB8AC3E}">
        <p14:creationId xmlns:p14="http://schemas.microsoft.com/office/powerpoint/2010/main" val="242001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24D1A-54CD-EAE7-389C-7B93DC38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3989D49A-F8E0-97FD-8D1D-87E3F618A7BC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RESULTS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graphicFrame>
        <p:nvGraphicFramePr>
          <p:cNvPr id="12" name="Table 20">
            <a:extLst>
              <a:ext uri="{FF2B5EF4-FFF2-40B4-BE49-F238E27FC236}">
                <a16:creationId xmlns:a16="http://schemas.microsoft.com/office/drawing/2014/main" id="{960FD464-EE05-6E38-4769-FC65C58C7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993842"/>
              </p:ext>
            </p:extLst>
          </p:nvPr>
        </p:nvGraphicFramePr>
        <p:xfrm>
          <a:off x="822960" y="2082472"/>
          <a:ext cx="10828266" cy="3249070"/>
        </p:xfrm>
        <a:graphic>
          <a:graphicData uri="http://schemas.openxmlformats.org/drawingml/2006/table">
            <a:tbl>
              <a:tblPr firstRow="1" bandRow="1"/>
              <a:tblGrid>
                <a:gridCol w="2241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721949135"/>
                    </a:ext>
                  </a:extLst>
                </a:gridCol>
                <a:gridCol w="1717258">
                  <a:extLst>
                    <a:ext uri="{9D8B030D-6E8A-4147-A177-3AD203B41FA5}">
                      <a16:colId xmlns:a16="http://schemas.microsoft.com/office/drawing/2014/main" val="2381679171"/>
                    </a:ext>
                  </a:extLst>
                </a:gridCol>
              </a:tblGrid>
              <a:tr h="573365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Variant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AP50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AP75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 (red)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AP (green)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70.22 ± 1.84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94.93 ± 0.78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82.55 ± 1.18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70.84 ± 4.46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69.61 ± 2.89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Early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67.37 ± 2.32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93.89 ± 2.33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78.67 ± 3.28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68.63 ± 3.79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66.11 ± 3.75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(K=0)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68.19 ± 2.12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94.15 ± 2.52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79.80 ± 1.66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69.06 ± 3.85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67.33 ± 2.81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(K=1)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67.43 ± 1.31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94.49 ± 1.58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77.95 ± 2.68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68.46 ± 3.42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66.40 ± 2.54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14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RGB-D DCA (K=2)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67.48 ± 2.02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93.90 ± 1.35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77.43 ± 1.93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9D0BC"/>
                      </a:solidFill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68.02 ± 4.18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E3A2B"/>
                          </a:solidFill>
                          <a:latin typeface="Proxima Nova" panose="02000506030000020004"/>
                          <a:ea typeface="Proxima Nova" panose="02000506030000020004"/>
                          <a:cs typeface="Proxima Nova" pitchFamily="34" charset="-120"/>
                        </a:rPr>
                        <a:t>66.95 ± 3.68</a:t>
                      </a:r>
                    </a:p>
                  </a:txBody>
                  <a:tcPr marL="82296" marR="82296" marT="36576" marB="3657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0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0B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3B73F0C-9B31-FCB9-9B44-43A693224820}"/>
              </a:ext>
            </a:extLst>
          </p:cNvPr>
          <p:cNvSpPr txBox="1"/>
          <p:nvPr/>
        </p:nvSpPr>
        <p:spPr>
          <a:xfrm>
            <a:off x="894677" y="5455382"/>
            <a:ext cx="8032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SzPct val="100000"/>
            </a:pPr>
            <a:r>
              <a:rPr lang="en-AU" sz="2400" b="1" dirty="0">
                <a:solidFill>
                  <a:srgbClr val="C8492E"/>
                </a:solidFill>
                <a:latin typeface="Proxima Nova" panose="02000506030000020004" pitchFamily="2" charset="0"/>
              </a:rPr>
              <a:t>Gap shows at AP75.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F5972D-1B5E-EED1-87E7-3C9F1239526F}"/>
              </a:ext>
            </a:extLst>
          </p:cNvPr>
          <p:cNvSpPr txBox="1"/>
          <p:nvPr/>
        </p:nvSpPr>
        <p:spPr>
          <a:xfrm>
            <a:off x="894677" y="1657134"/>
            <a:ext cx="10917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E3A2B"/>
                </a:solidFill>
                <a:latin typeface="Proxima Nova" panose="02000506030000020004" pitchFamily="2" charset="0"/>
              </a:rPr>
              <a:t>5-fold cross-validation segmentation AP (mean </a:t>
            </a:r>
            <a:r>
              <a:rPr lang="en-US" sz="2000" b="1" dirty="0">
                <a:solidFill>
                  <a:srgbClr val="2E3A2B"/>
                </a:solidFill>
                <a:latin typeface="Proxima Nova" panose="02000506030000020004" pitchFamily="2" charset="0"/>
                <a:ea typeface="Proxima Nova" panose="02000506030000020004"/>
                <a:cs typeface="Proxima Nova" pitchFamily="34" charset="-120"/>
              </a:rPr>
              <a:t>± </a:t>
            </a:r>
            <a:r>
              <a:rPr lang="en-US" sz="2000" b="1" dirty="0">
                <a:solidFill>
                  <a:srgbClr val="2E3A2B"/>
                </a:solidFill>
                <a:latin typeface="Proxima Nova" panose="02000506030000020004" pitchFamily="2" charset="0"/>
              </a:rPr>
              <a:t>std).</a:t>
            </a:r>
          </a:p>
        </p:txBody>
      </p:sp>
    </p:spTree>
    <p:extLst>
      <p:ext uri="{BB962C8B-B14F-4D97-AF65-F5344CB8AC3E}">
        <p14:creationId xmlns:p14="http://schemas.microsoft.com/office/powerpoint/2010/main" val="1110203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51CE8-149A-770F-0266-DAF4A4DB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1">
            <a:extLst>
              <a:ext uri="{FF2B5EF4-FFF2-40B4-BE49-F238E27FC236}">
                <a16:creationId xmlns:a16="http://schemas.microsoft.com/office/drawing/2014/main" id="{C68BBEBF-0E5B-E9E4-CE13-94BD1839FFCE}"/>
              </a:ext>
            </a:extLst>
          </p:cNvPr>
          <p:cNvSpPr/>
          <p:nvPr/>
        </p:nvSpPr>
        <p:spPr>
          <a:xfrm>
            <a:off x="640080" y="1737360"/>
            <a:ext cx="49606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Two failure modes:</a:t>
            </a:r>
          </a:p>
          <a:p>
            <a:pPr marL="457246" indent="-457246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Heavily occluded </a:t>
            </a: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EBC9C228-EB64-128B-B58D-D03D25BC7EC1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AP TRAINING CURVES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2AC67F-963A-3997-5505-FBC6BC477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11037526" cy="545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32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1966F-4B0F-FA08-8A1F-E58BB73F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1CBF5C22-E4E9-7577-0510-D8AA151801E3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SAMPLE INFERENCE</a:t>
            </a:r>
          </a:p>
          <a:p>
            <a:r>
              <a:rPr lang="en-AU" sz="1600" dirty="0">
                <a:solidFill>
                  <a:srgbClr val="EDE6D6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Perception is a key module for fruit harvesting robots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1A0963-07B8-3C26-8B77-7B5092DCC219}"/>
              </a:ext>
            </a:extLst>
          </p:cNvPr>
          <p:cNvGrpSpPr/>
          <p:nvPr/>
        </p:nvGrpSpPr>
        <p:grpSpPr>
          <a:xfrm>
            <a:off x="182880" y="1432560"/>
            <a:ext cx="11826240" cy="5425440"/>
            <a:chOff x="129540" y="1432560"/>
            <a:chExt cx="11826240" cy="542544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5F5C976-EF8B-96B8-0233-18544F6AD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101"/>
            <a:stretch>
              <a:fillRect/>
            </a:stretch>
          </p:blipFill>
          <p:spPr>
            <a:xfrm>
              <a:off x="6190961" y="1432560"/>
              <a:ext cx="5764819" cy="542544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5B7A2E7-C00B-AE5F-4914-1D764610C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101"/>
            <a:stretch>
              <a:fillRect/>
            </a:stretch>
          </p:blipFill>
          <p:spPr>
            <a:xfrm>
              <a:off x="129540" y="1432560"/>
              <a:ext cx="5764819" cy="5425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4931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EB0393-1A3C-273C-CCAB-0607BD38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ACF704E4-290A-6760-6A7F-232ED427B9F3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DEPTH CONTRIBUTION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C0D22D-C693-871F-EA61-ED800D9154FA}"/>
              </a:ext>
            </a:extLst>
          </p:cNvPr>
          <p:cNvGrpSpPr/>
          <p:nvPr/>
        </p:nvGrpSpPr>
        <p:grpSpPr>
          <a:xfrm>
            <a:off x="908009" y="2957080"/>
            <a:ext cx="10377425" cy="3807524"/>
            <a:chOff x="906566" y="1656015"/>
            <a:chExt cx="10377425" cy="380752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E9D74A8-07D1-F0C8-789D-0B690F2E3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72441"/>
            <a:stretch>
              <a:fillRect/>
            </a:stretch>
          </p:blipFill>
          <p:spPr>
            <a:xfrm>
              <a:off x="908009" y="1656015"/>
              <a:ext cx="10375982" cy="139833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C64D743-5DDE-C762-57C4-FF6A36704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0299" b="37425"/>
            <a:stretch>
              <a:fillRect/>
            </a:stretch>
          </p:blipFill>
          <p:spPr>
            <a:xfrm>
              <a:off x="906566" y="3054351"/>
              <a:ext cx="10375982" cy="11303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E79323B-D2E4-C0FD-A91E-F27E48277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4989" b="-194"/>
            <a:stretch>
              <a:fillRect/>
            </a:stretch>
          </p:blipFill>
          <p:spPr>
            <a:xfrm>
              <a:off x="908009" y="4184650"/>
              <a:ext cx="10375982" cy="127888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B5BDDEB-9E14-6BCF-BACA-1B8FD68E3F93}"/>
                  </a:ext>
                </a:extLst>
              </p:cNvPr>
              <p:cNvSpPr txBox="1"/>
              <p:nvPr/>
            </p:nvSpPr>
            <p:spPr>
              <a:xfrm>
                <a:off x="463550" y="1404075"/>
                <a:ext cx="6096000" cy="73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000" i="0" smtClean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m:t>Early</m:t>
                      </m:r>
                      <m:r>
                        <m:rPr>
                          <m:nor/>
                        </m:rPr>
                        <a:rPr lang="en-AU" sz="2000" i="0" smtClean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m:t>:</m:t>
                      </m:r>
                      <m:r>
                        <a:rPr lang="en-AU" sz="2000" b="0" i="1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m:t>  </m:t>
                      </m:r>
                      <m:f>
                        <m:fPr>
                          <m:ctrlPr>
                            <a:rPr lang="en-AU" sz="2000" b="1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AU" sz="2000" b="1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AU" sz="2000" b="1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AU" sz="2000" b="1" i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𝐜𝐨𝐧𝐯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AU" sz="2000" b="1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Source Sans Pro" panose="020B0503030403020204" pitchFamily="34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AU" sz="2000" b="1" i="0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Source Sans Pro" panose="020B0503030403020204" pitchFamily="34" charset="0"/>
                                          <a:cs typeface="Segoe UI" panose="020B0502040204020203" pitchFamily="34" charset="0"/>
                                        </a:rPr>
                                        <m:t>depth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AU" sz="2000" b="1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AU" sz="2000" b="1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AU" sz="2000" b="1" i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𝐜𝐨𝐧𝐯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AU" sz="2000" b="1" i="1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Source Sans Pro" panose="020B0503030403020204" pitchFamily="34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AU" sz="2000" b="1" i="0">
                                          <a:solidFill>
                                            <a:srgbClr val="2E3A2B"/>
                                          </a:solidFill>
                                          <a:latin typeface="Cambria Math" panose="02040503050406030204" pitchFamily="18" charset="0"/>
                                          <a:ea typeface="Source Sans Pro" panose="020B0503030403020204" pitchFamily="34" charset="0"/>
                                          <a:cs typeface="Segoe UI" panose="020B0502040204020203" pitchFamily="34" charset="0"/>
                                        </a:rPr>
                                        <m:t>RGB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den>
                      </m:f>
                    </m:oMath>
                  </m:oMathPara>
                </a14:m>
                <a:endParaRPr lang="en-AU" sz="2000" b="1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B5BDDEB-9E14-6BCF-BACA-1B8FD68E3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50" y="1404075"/>
                <a:ext cx="6096000" cy="7331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04D6CA-2795-7F77-637A-5F753DD09CC8}"/>
                  </a:ext>
                </a:extLst>
              </p:cNvPr>
              <p:cNvSpPr txBox="1"/>
              <p:nvPr/>
            </p:nvSpPr>
            <p:spPr>
              <a:xfrm>
                <a:off x="4765040" y="1247863"/>
                <a:ext cx="6096000" cy="1056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000" i="0" smtClean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m:t>Cross</m:t>
                      </m:r>
                      <m:r>
                        <m:rPr>
                          <m:nor/>
                        </m:rPr>
                        <a:rPr lang="en-AU" sz="2000" b="0" i="0" smtClean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m:t>-</m:t>
                      </m:r>
                      <m:r>
                        <m:rPr>
                          <m:nor/>
                        </m:rPr>
                        <a:rPr lang="en-AU" sz="2000" i="0" smtClean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m:t>Attention</m:t>
                      </m:r>
                      <m:r>
                        <m:rPr>
                          <m:nor/>
                        </m:rPr>
                        <a:rPr lang="en-AU" sz="2000" i="0" smtClean="0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m:t>:</m:t>
                      </m:r>
                      <m:r>
                        <a:rPr lang="en-AU" sz="2000" i="1">
                          <a:solidFill>
                            <a:srgbClr val="2E3A2B"/>
                          </a:solidFill>
                          <a:latin typeface="Cambria Math" panose="02040503050406030204" pitchFamily="18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m:t>  </m:t>
                      </m:r>
                      <m:f>
                        <m:fPr>
                          <m:ctrlPr>
                            <a:rPr lang="en-AU" sz="2000" b="1" i="1">
                              <a:solidFill>
                                <a:srgbClr val="2E3A2B"/>
                              </a:solidFill>
                              <a:latin typeface="Cambria Math" panose="02040503050406030204" pitchFamily="18" charset="0"/>
                              <a:ea typeface="Source Sans Pro" panose="020B0503030403020204" pitchFamily="34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AU" sz="2000" b="1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000" b="1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000" b="1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AU" sz="2000" b="1" i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fused</m:t>
                                  </m:r>
                                </m:sub>
                              </m:sSub>
                              <m:r>
                                <a:rPr lang="en-AU" sz="2000" b="1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sz="2000" b="1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000" b="1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AU" sz="2000" b="1" i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pre</m:t>
                                  </m:r>
                                  <m:r>
                                    <m:rPr>
                                      <m:nor/>
                                    </m:rPr>
                                    <a:rPr lang="en-AU" sz="2000" b="1" i="0" smtClean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-</m:t>
                                  </m:r>
                                  <m:r>
                                    <m:rPr>
                                      <m:nor/>
                                    </m:rPr>
                                    <a:rPr lang="en-AU" sz="2000" b="1" i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fusion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AU" sz="2000" b="1" i="1">
                                  <a:solidFill>
                                    <a:srgbClr val="2E3A2B"/>
                                  </a:solidFill>
                                  <a:latin typeface="Cambria Math" panose="02040503050406030204" pitchFamily="18" charset="0"/>
                                  <a:ea typeface="Source Sans Pro" panose="020B0503030403020204" pitchFamily="34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000" b="1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000" b="1" i="1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AU" sz="2000" b="1" i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pre</m:t>
                                  </m:r>
                                  <m:r>
                                    <m:rPr>
                                      <m:nor/>
                                    </m:rPr>
                                    <a:rPr lang="en-AU" sz="2000" b="1" i="0" smtClean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-</m:t>
                                  </m:r>
                                  <m:r>
                                    <m:rPr>
                                      <m:nor/>
                                    </m:rPr>
                                    <a:rPr lang="en-AU" sz="2000" b="1" i="0">
                                      <a:solidFill>
                                        <a:srgbClr val="2E3A2B"/>
                                      </a:solidFill>
                                      <a:latin typeface="Cambria Math" panose="02040503050406030204" pitchFamily="18" charset="0"/>
                                      <a:ea typeface="Source Sans Pro" panose="020B0503030403020204" pitchFamily="34" charset="0"/>
                                      <a:cs typeface="Segoe UI" panose="020B0502040204020203" pitchFamily="34" charset="0"/>
                                    </a:rPr>
                                    <m:t>fusion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AU" sz="2000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04D6CA-2795-7F77-637A-5F753DD09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040" y="1247863"/>
                <a:ext cx="6096000" cy="1056187"/>
              </a:xfrm>
              <a:prstGeom prst="rect">
                <a:avLst/>
              </a:prstGeom>
              <a:blipFill>
                <a:blip r:embed="rId5"/>
                <a:stretch>
                  <a:fillRect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CCB8598-23E8-F0AE-4FD7-8A5E902621A4}"/>
              </a:ext>
            </a:extLst>
          </p:cNvPr>
          <p:cNvSpPr txBox="1"/>
          <p:nvPr/>
        </p:nvSpPr>
        <p:spPr>
          <a:xfrm>
            <a:off x="906565" y="2336695"/>
            <a:ext cx="82374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2E3A2B"/>
                </a:solidFill>
                <a:latin typeface="Proxima Nova" panose="02000506030000020004" pitchFamily="2" charset="0"/>
              </a:rPr>
              <a:t>Per-patch depth contribution.</a:t>
            </a:r>
            <a:r>
              <a:rPr lang="en-AU" dirty="0">
                <a:solidFill>
                  <a:srgbClr val="2E3A2B"/>
                </a:solidFill>
                <a:latin typeface="Proxima Nova" panose="02000506030000020004" pitchFamily="2" charset="0"/>
              </a:rPr>
              <a:t> Brighter = stronger depth influence. </a:t>
            </a:r>
          </a:p>
          <a:p>
            <a:r>
              <a:rPr lang="en-AU" dirty="0">
                <a:solidFill>
                  <a:srgbClr val="2E3A2B"/>
                </a:solidFill>
                <a:latin typeface="Proxima Nova" panose="02000506030000020004" pitchFamily="2" charset="0"/>
              </a:rPr>
              <a:t>Colour scale comparable within each variant only.</a:t>
            </a:r>
            <a:endParaRPr lang="en-US" dirty="0">
              <a:solidFill>
                <a:srgbClr val="2E3A2B"/>
              </a:solidFill>
              <a:latin typeface="Proxima Nova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635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1124C-56C2-D44F-CECE-97E785E1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CA15F4F9-1098-D37F-CB8B-EC9F800AC2B7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CONCLUSION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1DBBAB-0E41-A218-1931-80534BD033B3}"/>
              </a:ext>
            </a:extLst>
          </p:cNvPr>
          <p:cNvSpPr/>
          <p:nvPr/>
        </p:nvSpPr>
        <p:spPr>
          <a:xfrm>
            <a:off x="640080" y="1441524"/>
            <a:ext cx="9452826" cy="4745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- No RGB-D fusion variant beat the RGB baseline.</a:t>
            </a:r>
          </a:p>
          <a:p>
            <a:pPr>
              <a:spcAft>
                <a:spcPts val="1200"/>
              </a:spcAft>
              <a:buSzPct val="100000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- Variants tie at AP50; gap shows at AP75.</a:t>
            </a:r>
          </a:p>
          <a:p>
            <a:pPr>
              <a:spcAft>
                <a:spcPts val="1200"/>
              </a:spcAft>
              <a:buSzPct val="100000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- Small dataset where vision transformers are data hungry</a:t>
            </a:r>
          </a:p>
        </p:txBody>
      </p:sp>
    </p:spTree>
    <p:extLst>
      <p:ext uri="{BB962C8B-B14F-4D97-AF65-F5344CB8AC3E}">
        <p14:creationId xmlns:p14="http://schemas.microsoft.com/office/powerpoint/2010/main" val="619675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8BFAB-8F97-45C3-6BDA-F13D3C18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A7F333DC-F060-8652-1928-C60BAE93D741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FUTURE RECOMMENDATIONS</a:t>
            </a:r>
          </a:p>
          <a:p>
            <a:r>
              <a:rPr lang="en-AU" sz="16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1D14DC-64BC-2236-17FC-13DBD674144A}"/>
              </a:ext>
            </a:extLst>
          </p:cNvPr>
          <p:cNvSpPr/>
          <p:nvPr/>
        </p:nvSpPr>
        <p:spPr>
          <a:xfrm>
            <a:off x="640080" y="1441524"/>
            <a:ext cx="9032838" cy="4745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endParaRPr lang="en-AU" sz="2800" dirty="0">
              <a:solidFill>
                <a:srgbClr val="2E3A2B"/>
              </a:solidFill>
              <a:latin typeface="Proxima Nova" panose="02000506030000020004" pitchFamily="2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9BB08F3-EA3B-6D3D-1808-9C5EFB3C0F08}"/>
              </a:ext>
            </a:extLst>
          </p:cNvPr>
          <p:cNvSpPr/>
          <p:nvPr/>
        </p:nvSpPr>
        <p:spPr>
          <a:xfrm>
            <a:off x="640080" y="1441524"/>
            <a:ext cx="9452826" cy="4745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indent="-457200">
              <a:spcAft>
                <a:spcPts val="1200"/>
              </a:spcAft>
              <a:buSzPct val="100000"/>
              <a:buFontTx/>
              <a:buChar char="-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Replace the backbone </a:t>
            </a:r>
            <a:r>
              <a:rPr lang="en-AU" sz="2800" dirty="0" err="1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ViT</a:t>
            </a: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 </a:t>
            </a:r>
          </a:p>
          <a:p>
            <a:pPr marL="457200" indent="-457200">
              <a:spcAft>
                <a:spcPts val="1200"/>
              </a:spcAft>
              <a:buSzPct val="100000"/>
              <a:buFontTx/>
              <a:buChar char="-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Increase dataset size.</a:t>
            </a:r>
          </a:p>
          <a:p>
            <a:pPr marL="457200" indent="-457200">
              <a:spcAft>
                <a:spcPts val="1200"/>
              </a:spcAft>
              <a:buSzPct val="100000"/>
              <a:buFontTx/>
              <a:buChar char="-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Investigate if noise affects accuracy.</a:t>
            </a:r>
          </a:p>
          <a:p>
            <a:pPr marL="457200" indent="-457200">
              <a:spcAft>
                <a:spcPts val="1200"/>
              </a:spcAft>
              <a:buSzPct val="100000"/>
              <a:buFontTx/>
              <a:buChar char="-"/>
            </a:pPr>
            <a:r>
              <a:rPr lang="en-AU" sz="2800" dirty="0">
                <a:solidFill>
                  <a:srgbClr val="2E3A2B"/>
                </a:solidFill>
                <a:latin typeface="Proxima Nova" panose="02000506030000020004" pitchFamily="2" charset="0"/>
                <a:ea typeface="Source Sans Pro" panose="020B0503030403020204" pitchFamily="34" charset="0"/>
                <a:cs typeface="Segoe UI" panose="020B0502040204020203" pitchFamily="34" charset="0"/>
              </a:rPr>
              <a:t>Change the way we apply depth. </a:t>
            </a:r>
          </a:p>
          <a:p>
            <a:pPr>
              <a:spcAft>
                <a:spcPts val="1200"/>
              </a:spcAft>
              <a:buSzPct val="100000"/>
            </a:pPr>
            <a:endParaRPr lang="en-AU" sz="2800" dirty="0">
              <a:solidFill>
                <a:srgbClr val="2E3A2B"/>
              </a:solidFill>
              <a:latin typeface="Proxima Nova" panose="02000506030000020004" pitchFamily="2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6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8D0D9-BC46-2D94-A258-E31FE766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>
            <a:extLst>
              <a:ext uri="{FF2B5EF4-FFF2-40B4-BE49-F238E27FC236}">
                <a16:creationId xmlns:a16="http://schemas.microsoft.com/office/drawing/2014/main" id="{00D603D8-D055-8ABA-A71E-F5E1EFC2941E}"/>
              </a:ext>
            </a:extLst>
          </p:cNvPr>
          <p:cNvSpPr/>
          <p:nvPr/>
        </p:nvSpPr>
        <p:spPr>
          <a:xfrm>
            <a:off x="655320" y="5261317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8800" b="1" dirty="0">
                <a:solidFill>
                  <a:srgbClr val="2E3A2B"/>
                </a:solidFill>
                <a:latin typeface="Proxima Nova" panose="02000506030000020004" pitchFamily="2" charset="0"/>
                <a:ea typeface="Segoe UI Semibold" pitchFamily="34" charset="-122"/>
                <a:cs typeface="Segoe UI Semibold" pitchFamily="34" charset="-120"/>
              </a:rPr>
              <a:t>THANK YOU</a:t>
            </a:r>
          </a:p>
          <a:p>
            <a:r>
              <a:rPr lang="en-AU" sz="5400" dirty="0">
                <a:solidFill>
                  <a:srgbClr val="C8492E"/>
                </a:solidFill>
                <a:latin typeface="Proxima Nova Medium" panose="02000506030000020004" pitchFamily="2" charset="0"/>
                <a:cs typeface="Segoe UI Semilight" panose="020B04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0210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Colour palette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7A7666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Light scheme · hex values for copy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5420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024128" y="2167128"/>
            <a:ext cx="2139696" cy="868680"/>
          </a:xfrm>
          <a:prstGeom prst="roundRect">
            <a:avLst>
              <a:gd name="adj" fmla="val 5263"/>
            </a:avLst>
          </a:prstGeom>
          <a:solidFill>
            <a:srgbClr val="EDE6D6"/>
          </a:solidFill>
          <a:ln w="9525">
            <a:solidFill>
              <a:srgbClr val="D4C9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42416" y="3136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42416" y="34472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7A7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#EDE6D6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639312" y="1965960"/>
            <a:ext cx="25420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3840480" y="2167128"/>
            <a:ext cx="2139696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4C9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858768" y="3136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Panel / Card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58768" y="34472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7A7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#FFFFFF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55664" y="1965960"/>
            <a:ext cx="25420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6656832" y="2167128"/>
            <a:ext cx="2139696" cy="868680"/>
          </a:xfrm>
          <a:prstGeom prst="roundRect">
            <a:avLst>
              <a:gd name="adj" fmla="val 5263"/>
            </a:avLst>
          </a:prstGeom>
          <a:solidFill>
            <a:srgbClr val="2E3A2B"/>
          </a:solidFill>
          <a:ln w="9525">
            <a:solidFill>
              <a:srgbClr val="D4C9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675120" y="3136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Primary Ink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0" y="34472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7A7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#2E3A2B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272016" y="1965960"/>
            <a:ext cx="25420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9473184" y="2167128"/>
            <a:ext cx="2139696" cy="868680"/>
          </a:xfrm>
          <a:prstGeom prst="roundRect">
            <a:avLst>
              <a:gd name="adj" fmla="val 5263"/>
            </a:avLst>
          </a:prstGeom>
          <a:solidFill>
            <a:srgbClr val="C8492E"/>
          </a:solidFill>
          <a:ln w="9525">
            <a:solidFill>
              <a:srgbClr val="D4C9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9491472" y="3136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Tomato Red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91472" y="34472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7A7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#C8492E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22960" y="4114800"/>
            <a:ext cx="25420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1024128" y="4315968"/>
            <a:ext cx="2139696" cy="868680"/>
          </a:xfrm>
          <a:prstGeom prst="roundRect">
            <a:avLst>
              <a:gd name="adj" fmla="val 5263"/>
            </a:avLst>
          </a:prstGeom>
          <a:solidFill>
            <a:srgbClr val="6B8E4E"/>
          </a:solidFill>
          <a:ln w="9525">
            <a:solidFill>
              <a:srgbClr val="D4C9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1042416" y="5285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Leaf Green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42416" y="55961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7A7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#6B8E4E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639312" y="4114800"/>
            <a:ext cx="25420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3840480" y="4315968"/>
            <a:ext cx="2139696" cy="868680"/>
          </a:xfrm>
          <a:prstGeom prst="roundRect">
            <a:avLst>
              <a:gd name="adj" fmla="val 5263"/>
            </a:avLst>
          </a:prstGeom>
          <a:solidFill>
            <a:srgbClr val="5A7184"/>
          </a:solidFill>
          <a:ln w="9525">
            <a:solidFill>
              <a:srgbClr val="D4C9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3858768" y="5285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Steel Blue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58768" y="55961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7A7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#5A7184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455664" y="4114800"/>
            <a:ext cx="25420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6656832" y="4315968"/>
            <a:ext cx="2139696" cy="868680"/>
          </a:xfrm>
          <a:prstGeom prst="roundRect">
            <a:avLst>
              <a:gd name="adj" fmla="val 5263"/>
            </a:avLst>
          </a:prstGeom>
          <a:solidFill>
            <a:srgbClr val="7A7666"/>
          </a:solidFill>
          <a:ln w="9525">
            <a:solidFill>
              <a:srgbClr val="D4C9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6675120" y="5285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Muted Text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75120" y="55961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7A7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#7A7666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9272016" y="4114800"/>
            <a:ext cx="25420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9473184" y="4315968"/>
            <a:ext cx="2139696" cy="868680"/>
          </a:xfrm>
          <a:prstGeom prst="roundRect">
            <a:avLst>
              <a:gd name="adj" fmla="val 5263"/>
            </a:avLst>
          </a:prstGeom>
          <a:solidFill>
            <a:srgbClr val="D4C9B0"/>
          </a:solidFill>
          <a:ln w="9525">
            <a:solidFill>
              <a:srgbClr val="D4C9B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9491472" y="5285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E3A2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Divider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491472" y="55961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7A7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#D4C9B0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7A7666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3097</TotalTime>
  <Words>2180</Words>
  <Application>Microsoft Macintosh PowerPoint</Application>
  <PresentationFormat>Widescreen</PresentationFormat>
  <Paragraphs>408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Cambria Math</vt:lpstr>
      <vt:lpstr>JetBrains Mono</vt:lpstr>
      <vt:lpstr>Proxima Nova</vt:lpstr>
      <vt:lpstr>Proxima Nova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Fruit Harvesting Robots — Tomatoes</dc:title>
  <dc:subject>PptxGenJS Presentation</dc:subject>
  <dc:creator>Ed</dc:creator>
  <cp:lastModifiedBy>Edward John Domingo</cp:lastModifiedBy>
  <cp:revision>20</cp:revision>
  <dcterms:created xsi:type="dcterms:W3CDTF">2026-06-22T10:17:17Z</dcterms:created>
  <dcterms:modified xsi:type="dcterms:W3CDTF">2026-06-27T00:16:09Z</dcterms:modified>
</cp:coreProperties>
</file>